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TickIT Plus Audit presentation for Requirement Analysis. This presentation covers our comprehensive approach to requirement management within our Agile Scrum framework. We will demonstrate how our processes align with TickIT Plus standards and our Ways of Working.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the Sopra Steria Sales CRM platform. The audit focuses specifically on our Requirement Analysis process. We follow TickIT Plus standards integrated with Agile Scrum methodology, delivering in 2-week sprint cycles. Our Ways of Working document defines our operational practices.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Sales CRM platform serves four entities across Germany and Austria. Key business stakeholders include Marketing, Pre-Sales, Industrial Direction, and Finance &amp; Controlling teams who rely on this platform for their daily operations.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Scrum delivery model follows a structured flow from business request to deployment. Each stage has defined inputs, outputs, and quality gates. This ensures requirements are properly analyzed and validated before entering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objective of our requirement analysis process is to ensure every Product Backlog Item is thoroughly understood, designed, estimated, and validated before it enters a Sprint. This reduces development risks and ensures predictable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 inputs come from multiple sources including business requests, user feedback, and compliance requirements. The output is always a Ready for Sprint User Story that meets our Definition of Ready criteria.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refinement is a collaborative session where the team works together to understand, discuss, and prepare user stories. Stories are refined until they satisfy our Definition of Ready criteria.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refinement workflow ensures each story progresses through structured stages. From selection through to Ready for Sprint status, each step validates different aspects of the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design is conducted for complex user stories that require technical analysis. This ensures the team understands the implementation approach before committing to estimates.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Planning Poker for estimation, ensuring team consensus. One story point represents approximately one engineering day of effort. Complex stories may require multiple refinement sessions to reach accurate estimates.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of Ready is our quality gate ensuring stories are properly prepared before Sprint entry. Each criterion must be satisfied, documented, and validated by the team.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INVEST criteria ensure each user story is well-formed. We validate each criterion during backlog refinement to ensure stories are properly structured.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clarification calls ensure any questions or blockers are addressed immediately. This maintains development momentum and prevents requirement ambiguity from impacting delivery.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Sprint Planning ensures only properly refined stories enter the Sprint. The team commits to delivery based on validated capacity and story readiness.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of our requirement process has a defined quality check. These gates ensure requirements progress only when properly validated.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distributed team structure ensures proper coverage across roles. Clear ownership and responsibilities are defined for requirement analysis activities.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categorize work into User Stories requiring full Scrum process and Minor Changes for small configuration updates. This ensures appropriate process rigor for different work types.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traceability is maintained from business request through deployment. Each phase produces documented evidence that links back to the original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handle diverse business change categories within Salesforce. Each category follows our standard requirement analysis process with domain-specific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strict controls on AI tool usage. GitHub Copilot is approved only for test design and documentation, with mandatory human review of all AI-assisted outputs.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identified risk has a corresponding control measure. These controls are embedded in our standard processes to ensure consistent risk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audit evidence is maintained in Jira and Confluence. We can demonstrate traceability and compliance through these documented artifacts.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KPIs ensure consistent quality in requirement analysis. We target 100% compliance on all quality metrics with weekly refinement cadence and same-day clarification resolution.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improvement is embedded in our process through retrospectives and regular reviews. We analyze metrics and implement process optimizations to enhance our requirement analysis capability.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our requirement analysis process is comprehensive, structured, and aligned with TickIT Plus standards. We maintain full traceability and continuous improvement culture.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5293"/>
                </a:solidFill>
              </a:defRPr>
            </a:pPr>
            <a:r>
              <a:t>TickIT Plus Audit</a:t>
            </a:r>
          </a:p>
        </p:txBody>
      </p:sp>
      <p:sp>
        <p:nvSpPr>
          <p:cNvPr id="3" name="Subtitle 2"/>
          <p:cNvSpPr>
            <a:spLocks noGrp="1"/>
          </p:cNvSpPr>
          <p:nvPr>
            <p:ph type="subTitle" idx="1"/>
          </p:nvPr>
        </p:nvSpPr>
        <p:spPr/>
        <p:txBody>
          <a:bodyPr/>
          <a:lstStyle/>
          <a:p>
            <a:pPr>
              <a:defRPr sz="2400">
                <a:solidFill>
                  <a:srgbClr val="333333"/>
                </a:solidFill>
              </a:defRPr>
            </a:pPr>
            <a:r>
              <a:t>Requirement Analysis Process</a:t>
            </a:r>
          </a:p>
          <a:p>
            <a:pPr>
              <a:defRPr sz="2400">
                <a:solidFill>
                  <a:srgbClr val="333333"/>
                </a:solidFill>
              </a:defRPr>
            </a:pPr>
            <a:r>
              <a:t>Sopra Steria Sales CRM</a:t>
            </a:r>
          </a:p>
          <a:p>
            <a:pPr>
              <a:defRPr sz="2400">
                <a:solidFill>
                  <a:srgbClr val="333333"/>
                </a:solidFill>
              </a:defRPr>
            </a:pPr>
          </a:p>
          <a:p>
            <a:pPr>
              <a:defRPr sz="2400">
                <a:solidFill>
                  <a:srgbClr val="333333"/>
                </a:solidFill>
              </a:defRPr>
            </a:pPr>
            <a:r>
              <a:t>Presented by: Apparao Maroju, Scrum Master</a:t>
            </a:r>
          </a:p>
          <a:p>
            <a:pPr>
              <a:defRPr sz="2400">
                <a:solidFill>
                  <a:srgbClr val="333333"/>
                </a:solidFill>
              </a:defRPr>
            </a:pPr>
            <a:r>
              <a:t>Date: July 29,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Agenda</a:t>
            </a:r>
          </a:p>
        </p:txBody>
      </p:sp>
      <p:sp>
        <p:nvSpPr>
          <p:cNvPr id="3" name="Text Placeholder 2"/>
          <p:cNvSpPr>
            <a:spLocks noGrp="1"/>
          </p:cNvSpPr>
          <p:nvPr>
            <p:ph type="body" idx="1"/>
          </p:nvPr>
        </p:nvSpPr>
        <p:spPr/>
        <p:txBody>
          <a:bodyPr/>
          <a:lstStyle/>
          <a:p>
            <a:pPr>
              <a:defRPr sz="2000">
                <a:solidFill>
                  <a:srgbClr val="333333"/>
                </a:solidFill>
              </a:defRPr>
            </a:pPr>
            <a:r>
              <a:t>Project Overview &amp; Audit Scope</a:t>
            </a:r>
          </a:p>
          <a:p>
            <a:pPr>
              <a:defRPr sz="2000">
                <a:solidFill>
                  <a:srgbClr val="333333"/>
                </a:solidFill>
              </a:defRPr>
            </a:pPr>
            <a:r>
              <a:t>Business Context</a:t>
            </a:r>
          </a:p>
          <a:p>
            <a:pPr>
              <a:defRPr sz="2000">
                <a:solidFill>
                  <a:srgbClr val="333333"/>
                </a:solidFill>
              </a:defRPr>
            </a:pPr>
            <a:r>
              <a:t>Scrum Delivery Model</a:t>
            </a:r>
          </a:p>
          <a:p>
            <a:pPr>
              <a:defRPr sz="2000">
                <a:solidFill>
                  <a:srgbClr val="333333"/>
                </a:solidFill>
              </a:defRPr>
            </a:pPr>
            <a:r>
              <a:t>Requirement Analysis Process</a:t>
            </a:r>
          </a:p>
          <a:p>
            <a:pPr>
              <a:defRPr sz="2000">
                <a:solidFill>
                  <a:srgbClr val="333333"/>
                </a:solidFill>
              </a:defRPr>
            </a:pPr>
            <a:r>
              <a:t>Backlog Refinement &amp; Solution Design</a:t>
            </a:r>
          </a:p>
          <a:p>
            <a:pPr>
              <a:defRPr sz="2000">
                <a:solidFill>
                  <a:srgbClr val="333333"/>
                </a:solidFill>
              </a:defRPr>
            </a:pPr>
            <a:r>
              <a:t>Quality Gates &amp; Definition of Ready</a:t>
            </a:r>
          </a:p>
          <a:p>
            <a:pPr>
              <a:defRPr sz="2000">
                <a:solidFill>
                  <a:srgbClr val="333333"/>
                </a:solidFill>
              </a:defRPr>
            </a:pPr>
            <a:r>
              <a:t>Requirement Traceability</a:t>
            </a:r>
          </a:p>
          <a:p>
            <a:pPr>
              <a:defRPr sz="2000">
                <a:solidFill>
                  <a:srgbClr val="333333"/>
                </a:solidFill>
              </a:defRPr>
            </a:pPr>
            <a:r>
              <a:t>Risk Controls &amp; Key Evidence</a:t>
            </a:r>
          </a:p>
          <a:p>
            <a:pPr>
              <a:defRPr sz="2000">
                <a:solidFill>
                  <a:srgbClr val="333333"/>
                </a:solidFill>
              </a:defRPr>
            </a:pPr>
            <a:r>
              <a:t>Key Performance Indicators</a:t>
            </a:r>
          </a:p>
          <a:p>
            <a:pPr>
              <a:defRPr sz="2000">
                <a:solidFill>
                  <a:srgbClr val="333333"/>
                </a:solidFill>
              </a:defRPr>
            </a:pPr>
            <a:r>
              <a:t>Summary &amp;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Project Overview</a:t>
            </a:r>
          </a:p>
        </p:txBody>
      </p:sp>
      <p:sp>
        <p:nvSpPr>
          <p:cNvPr id="3" name="Text Placeholder 2"/>
          <p:cNvSpPr>
            <a:spLocks noGrp="1"/>
          </p:cNvSpPr>
          <p:nvPr>
            <p:ph type="body" idx="1"/>
          </p:nvPr>
        </p:nvSpPr>
        <p:spPr/>
        <p:txBody>
          <a:bodyPr/>
          <a:lstStyle/>
          <a:p>
            <a:pPr>
              <a:defRPr sz="2000">
                <a:solidFill>
                  <a:srgbClr val="333333"/>
                </a:solidFill>
              </a:defRPr>
            </a:pPr>
            <a:r>
              <a:t>Project: Sopra Steria Sales CRM</a:t>
            </a:r>
          </a:p>
          <a:p>
            <a:pPr>
              <a:defRPr sz="2000">
                <a:solidFill>
                  <a:srgbClr val="333333"/>
                </a:solidFill>
              </a:defRPr>
            </a:pPr>
            <a:r>
              <a:t>Audit Scope: Requirement Analysis Process</a:t>
            </a:r>
          </a:p>
          <a:p>
            <a:pPr>
              <a:defRPr sz="2000">
                <a:solidFill>
                  <a:srgbClr val="333333"/>
                </a:solidFill>
              </a:defRPr>
            </a:pPr>
            <a:r>
              <a:t>Standards: TickIT Plus, Agile Scrum, Ways of Working</a:t>
            </a:r>
          </a:p>
          <a:p>
            <a:pPr>
              <a:defRPr sz="2000">
                <a:solidFill>
                  <a:srgbClr val="333333"/>
                </a:solidFill>
              </a:defRPr>
            </a:pPr>
            <a:r>
              <a:t>Methodology: Agile Scrum</a:t>
            </a:r>
          </a:p>
          <a:p>
            <a:pPr>
              <a:defRPr sz="2000">
                <a:solidFill>
                  <a:srgbClr val="333333"/>
                </a:solidFill>
              </a:defRPr>
            </a:pPr>
            <a:r>
              <a:t>Sprint Duration: 2 Weeks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Business Overview</a:t>
            </a:r>
          </a:p>
        </p:txBody>
      </p:sp>
      <p:sp>
        <p:nvSpPr>
          <p:cNvPr id="5" name="TextBox 4"/>
          <p:cNvSpPr txBox="1"/>
          <p:nvPr/>
        </p:nvSpPr>
        <p:spPr>
          <a:xfrm>
            <a:off x="457200" y="1188720"/>
            <a:ext cx="5303520" cy="5029200"/>
          </a:xfrm>
          <a:prstGeom prst="rect">
            <a:avLst/>
          </a:prstGeom>
          <a:noFill/>
        </p:spPr>
        <p:txBody>
          <a:bodyPr wrap="square">
            <a:spAutoFit/>
          </a:bodyPr>
          <a:lstStyle/>
          <a:p>
            <a:pPr>
              <a:defRPr sz="1800" b="1">
                <a:solidFill>
                  <a:srgbClr val="005293"/>
                </a:solidFill>
              </a:defRPr>
            </a:pPr>
            <a:r>
              <a:t>Application Scope:</a:t>
            </a:r>
          </a:p>
          <a:p>
            <a:pPr>
              <a:defRPr sz="1800">
                <a:solidFill>
                  <a:srgbClr val="333333"/>
                </a:solidFill>
              </a:defRPr>
            </a:pPr>
            <a:r>
              <a:t>• Sopra Steria SE (Germany)</a:t>
            </a:r>
          </a:p>
          <a:p>
            <a:pPr>
              <a:defRPr sz="1800">
                <a:solidFill>
                  <a:srgbClr val="333333"/>
                </a:solidFill>
              </a:defRPr>
            </a:pPr>
            <a:r>
              <a:t>• Sopra Steria Austria</a:t>
            </a:r>
          </a:p>
          <a:p>
            <a:pPr>
              <a:defRPr sz="1800">
                <a:solidFill>
                  <a:srgbClr val="333333"/>
                </a:solidFill>
              </a:defRPr>
            </a:pPr>
            <a:r>
              <a:t>• ISS Software GmbH</a:t>
            </a:r>
          </a:p>
          <a:p>
            <a:pPr>
              <a:defRPr sz="1800">
                <a:solidFill>
                  <a:srgbClr val="333333"/>
                </a:solidFill>
              </a:defRPr>
            </a:pPr>
            <a:r>
              <a:t>• it-economics GmbH</a:t>
            </a:r>
          </a:p>
        </p:txBody>
      </p:sp>
      <p:sp>
        <p:nvSpPr>
          <p:cNvPr id="6" name="TextBox 5"/>
          <p:cNvSpPr txBox="1"/>
          <p:nvPr/>
        </p:nvSpPr>
        <p:spPr>
          <a:xfrm>
            <a:off x="6217920" y="1188720"/>
            <a:ext cx="5303520" cy="5029200"/>
          </a:xfrm>
          <a:prstGeom prst="rect">
            <a:avLst/>
          </a:prstGeom>
          <a:noFill/>
        </p:spPr>
        <p:txBody>
          <a:bodyPr wrap="square">
            <a:spAutoFit/>
          </a:bodyPr>
          <a:lstStyle/>
          <a:p>
            <a:pPr>
              <a:defRPr sz="1800" b="1">
                <a:solidFill>
                  <a:srgbClr val="005293"/>
                </a:solidFill>
              </a:defRPr>
            </a:pPr>
            <a:r>
              <a:t>Business Users:</a:t>
            </a:r>
          </a:p>
          <a:p>
            <a:pPr>
              <a:defRPr sz="1800">
                <a:solidFill>
                  <a:srgbClr val="333333"/>
                </a:solidFill>
              </a:defRPr>
            </a:pPr>
            <a:r>
              <a:t>• Marketing</a:t>
            </a:r>
          </a:p>
          <a:p>
            <a:pPr>
              <a:defRPr sz="1800">
                <a:solidFill>
                  <a:srgbClr val="333333"/>
                </a:solidFill>
              </a:defRPr>
            </a:pPr>
            <a:r>
              <a:t>• Pre-Sales</a:t>
            </a:r>
          </a:p>
          <a:p>
            <a:pPr>
              <a:defRPr sz="1800">
                <a:solidFill>
                  <a:srgbClr val="333333"/>
                </a:solidFill>
              </a:defRPr>
            </a:pPr>
            <a:r>
              <a:t>• Industrial Direction</a:t>
            </a:r>
          </a:p>
          <a:p>
            <a:pPr>
              <a:defRPr sz="1800">
                <a:solidFill>
                  <a:srgbClr val="333333"/>
                </a:solidFill>
              </a:defRPr>
            </a:pPr>
            <a:r>
              <a:t>• Finance &amp; Controlling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Scrum Delivery Model</a:t>
            </a:r>
          </a:p>
        </p:txBody>
      </p:sp>
      <p:sp>
        <p:nvSpPr>
          <p:cNvPr id="5" name="Rounded Rectangle 4"/>
          <p:cNvSpPr/>
          <p:nvPr/>
        </p:nvSpPr>
        <p:spPr>
          <a:xfrm>
            <a:off x="365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Business Request</a:t>
            </a:r>
          </a:p>
        </p:txBody>
      </p:sp>
      <p:sp>
        <p:nvSpPr>
          <p:cNvPr id="6" name="Right Arrow 5"/>
          <p:cNvSpPr/>
          <p:nvPr/>
        </p:nvSpPr>
        <p:spPr>
          <a:xfrm>
            <a:off x="2395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51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Product Backlog</a:t>
            </a:r>
          </a:p>
        </p:txBody>
      </p:sp>
      <p:sp>
        <p:nvSpPr>
          <p:cNvPr id="8" name="Right Arrow 7"/>
          <p:cNvSpPr/>
          <p:nvPr/>
        </p:nvSpPr>
        <p:spPr>
          <a:xfrm>
            <a:off x="4681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37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Backlog Refinement</a:t>
            </a:r>
          </a:p>
        </p:txBody>
      </p:sp>
      <p:sp>
        <p:nvSpPr>
          <p:cNvPr id="10" name="Right Arrow 9"/>
          <p:cNvSpPr/>
          <p:nvPr/>
        </p:nvSpPr>
        <p:spPr>
          <a:xfrm>
            <a:off x="6967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23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Solution Design</a:t>
            </a:r>
          </a:p>
        </p:txBody>
      </p:sp>
      <p:sp>
        <p:nvSpPr>
          <p:cNvPr id="12" name="Right Arrow 11"/>
          <p:cNvSpPr/>
          <p:nvPr/>
        </p:nvSpPr>
        <p:spPr>
          <a:xfrm>
            <a:off x="9253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09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Story Estimation</a:t>
            </a:r>
          </a:p>
        </p:txBody>
      </p:sp>
      <p:sp>
        <p:nvSpPr>
          <p:cNvPr id="14" name="Rounded Rectangle 13"/>
          <p:cNvSpPr/>
          <p:nvPr/>
        </p:nvSpPr>
        <p:spPr>
          <a:xfrm>
            <a:off x="365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Definition of Ready</a:t>
            </a:r>
          </a:p>
        </p:txBody>
      </p:sp>
      <p:sp>
        <p:nvSpPr>
          <p:cNvPr id="15" name="Right Arrow 14"/>
          <p:cNvSpPr/>
          <p:nvPr/>
        </p:nvSpPr>
        <p:spPr>
          <a:xfrm>
            <a:off x="2395728" y="283464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651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Sprint Planning</a:t>
            </a:r>
          </a:p>
        </p:txBody>
      </p:sp>
      <p:sp>
        <p:nvSpPr>
          <p:cNvPr id="17" name="Right Arrow 16"/>
          <p:cNvSpPr/>
          <p:nvPr/>
        </p:nvSpPr>
        <p:spPr>
          <a:xfrm>
            <a:off x="4681728" y="283464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937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Development</a:t>
            </a:r>
          </a:p>
        </p:txBody>
      </p:sp>
      <p:sp>
        <p:nvSpPr>
          <p:cNvPr id="19" name="Right Arrow 18"/>
          <p:cNvSpPr/>
          <p:nvPr/>
        </p:nvSpPr>
        <p:spPr>
          <a:xfrm>
            <a:off x="6967728" y="283464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23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Testing</a:t>
            </a:r>
          </a:p>
        </p:txBody>
      </p:sp>
      <p:sp>
        <p:nvSpPr>
          <p:cNvPr id="21" name="Right Arrow 20"/>
          <p:cNvSpPr/>
          <p:nvPr/>
        </p:nvSpPr>
        <p:spPr>
          <a:xfrm>
            <a:off x="9253728" y="283464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09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Requirement Analysis Objective</a:t>
            </a:r>
          </a:p>
        </p:txBody>
      </p:sp>
      <p:sp>
        <p:nvSpPr>
          <p:cNvPr id="3" name="Text Placeholder 2"/>
          <p:cNvSpPr>
            <a:spLocks noGrp="1"/>
          </p:cNvSpPr>
          <p:nvPr>
            <p:ph type="body" idx="1"/>
          </p:nvPr>
        </p:nvSpPr>
        <p:spPr/>
        <p:txBody>
          <a:bodyPr/>
          <a:lstStyle/>
          <a:p>
            <a:pPr>
              <a:defRPr sz="2000">
                <a:solidFill>
                  <a:srgbClr val="333333"/>
                </a:solidFill>
              </a:defRPr>
            </a:pPr>
            <a:r>
              <a:t>Ensure every PBI is fully understood before Sprint entry</a:t>
            </a:r>
          </a:p>
          <a:p>
            <a:pPr>
              <a:defRPr sz="2000">
                <a:solidFill>
                  <a:srgbClr val="333333"/>
                </a:solidFill>
              </a:defRPr>
            </a:pPr>
            <a:r>
              <a:t>Validate business value and acceptance criteria</a:t>
            </a:r>
          </a:p>
          <a:p>
            <a:pPr>
              <a:defRPr sz="2000">
                <a:solidFill>
                  <a:srgbClr val="333333"/>
                </a:solidFill>
              </a:defRPr>
            </a:pPr>
            <a:r>
              <a:t>Conduct technical feasibility assessment</a:t>
            </a:r>
          </a:p>
          <a:p>
            <a:pPr>
              <a:defRPr sz="2000">
                <a:solidFill>
                  <a:srgbClr val="333333"/>
                </a:solidFill>
              </a:defRPr>
            </a:pPr>
            <a:r>
              <a:t>Identify and resolve dependencies</a:t>
            </a:r>
          </a:p>
          <a:p>
            <a:pPr>
              <a:defRPr sz="2000">
                <a:solidFill>
                  <a:srgbClr val="333333"/>
                </a:solidFill>
              </a:defRPr>
            </a:pPr>
            <a:r>
              <a:t>Accurate effort estimation through Planning Poker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Requirement Inputs &amp; Outputs</a:t>
            </a:r>
          </a:p>
        </p:txBody>
      </p:sp>
      <p:sp>
        <p:nvSpPr>
          <p:cNvPr id="5" name="TextBox 4"/>
          <p:cNvSpPr txBox="1"/>
          <p:nvPr/>
        </p:nvSpPr>
        <p:spPr>
          <a:xfrm>
            <a:off x="457200" y="1188720"/>
            <a:ext cx="5303520" cy="5029200"/>
          </a:xfrm>
          <a:prstGeom prst="rect">
            <a:avLst/>
          </a:prstGeom>
          <a:noFill/>
        </p:spPr>
        <p:txBody>
          <a:bodyPr wrap="square">
            <a:spAutoFit/>
          </a:bodyPr>
          <a:lstStyle/>
          <a:p>
            <a:pPr>
              <a:defRPr sz="1800" b="1">
                <a:solidFill>
                  <a:srgbClr val="005293"/>
                </a:solidFill>
              </a:defRPr>
            </a:pPr>
            <a:r>
              <a:t>INPUTS:</a:t>
            </a:r>
          </a:p>
          <a:p>
            <a:pPr>
              <a:defRPr sz="1800">
                <a:solidFill>
                  <a:srgbClr val="333333"/>
                </a:solidFill>
              </a:defRPr>
            </a:pPr>
            <a:r>
              <a:t>• Business Requests</a:t>
            </a:r>
          </a:p>
          <a:p>
            <a:pPr>
              <a:defRPr sz="1800">
                <a:solidFill>
                  <a:srgbClr val="333333"/>
                </a:solidFill>
              </a:defRPr>
            </a:pPr>
            <a:r>
              <a:t>• User Feedback</a:t>
            </a:r>
          </a:p>
          <a:p>
            <a:pPr>
              <a:defRPr sz="1800">
                <a:solidFill>
                  <a:srgbClr val="333333"/>
                </a:solidFill>
              </a:defRPr>
            </a:pPr>
            <a:r>
              <a:t>• Product Owner Priorities</a:t>
            </a:r>
          </a:p>
          <a:p>
            <a:pPr>
              <a:defRPr sz="1800">
                <a:solidFill>
                  <a:srgbClr val="333333"/>
                </a:solidFill>
              </a:defRPr>
            </a:pPr>
            <a:r>
              <a:t>• Operational Enhancements</a:t>
            </a:r>
          </a:p>
          <a:p>
            <a:pPr>
              <a:defRPr sz="1800">
                <a:solidFill>
                  <a:srgbClr val="333333"/>
                </a:solidFill>
              </a:defRPr>
            </a:pPr>
            <a:r>
              <a:t>• Compliance Requirements</a:t>
            </a:r>
          </a:p>
        </p:txBody>
      </p:sp>
      <p:sp>
        <p:nvSpPr>
          <p:cNvPr id="6" name="TextBox 5"/>
          <p:cNvSpPr txBox="1"/>
          <p:nvPr/>
        </p:nvSpPr>
        <p:spPr>
          <a:xfrm>
            <a:off x="6217920" y="1188720"/>
            <a:ext cx="5303520" cy="5029200"/>
          </a:xfrm>
          <a:prstGeom prst="rect">
            <a:avLst/>
          </a:prstGeom>
          <a:noFill/>
        </p:spPr>
        <p:txBody>
          <a:bodyPr wrap="square">
            <a:spAutoFit/>
          </a:bodyPr>
          <a:lstStyle/>
          <a:p>
            <a:pPr>
              <a:defRPr sz="1800" b="1">
                <a:solidFill>
                  <a:srgbClr val="005293"/>
                </a:solidFill>
              </a:defRPr>
            </a:pPr>
            <a:r>
              <a:t>OUTPUT:</a:t>
            </a:r>
          </a:p>
          <a:p>
            <a:pPr>
              <a:defRPr sz="1800">
                <a:solidFill>
                  <a:srgbClr val="333333"/>
                </a:solidFill>
              </a:defRPr>
            </a:pPr>
            <a:r>
              <a:t>• Ready for Sprint User Stories</a:t>
            </a:r>
          </a:p>
          <a:p>
            <a:pPr>
              <a:defRPr sz="1800">
                <a:solidFill>
                  <a:srgbClr val="333333"/>
                </a:solidFill>
              </a:defRPr>
            </a:pPr>
            <a:r>
              <a:t>• Complete acceptance criteria</a:t>
            </a:r>
          </a:p>
          <a:p>
            <a:pPr>
              <a:defRPr sz="1800">
                <a:solidFill>
                  <a:srgbClr val="333333"/>
                </a:solidFill>
              </a:defRPr>
            </a:pPr>
            <a:r>
              <a:t>• Estimated story points</a:t>
            </a:r>
          </a:p>
          <a:p>
            <a:pPr>
              <a:defRPr sz="1800">
                <a:solidFill>
                  <a:srgbClr val="333333"/>
                </a:solidFill>
              </a:defRPr>
            </a:pPr>
            <a:r>
              <a:t>• Identified dependencies</a:t>
            </a:r>
          </a:p>
          <a:p>
            <a:pPr>
              <a:defRPr sz="1800">
                <a:solidFill>
                  <a:srgbClr val="333333"/>
                </a:solidFill>
              </a:defRPr>
            </a:pPr>
            <a:r>
              <a:t>• Solution approach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Backlog Refinement Process</a:t>
            </a:r>
          </a:p>
        </p:txBody>
      </p:sp>
      <p:sp>
        <p:nvSpPr>
          <p:cNvPr id="3" name="Text Placeholder 2"/>
          <p:cNvSpPr>
            <a:spLocks noGrp="1"/>
          </p:cNvSpPr>
          <p:nvPr>
            <p:ph type="body" idx="1"/>
          </p:nvPr>
        </p:nvSpPr>
        <p:spPr/>
        <p:txBody>
          <a:bodyPr/>
          <a:lstStyle/>
          <a:p>
            <a:pPr>
              <a:defRPr sz="2000">
                <a:solidFill>
                  <a:srgbClr val="333333"/>
                </a:solidFill>
              </a:defRPr>
            </a:pPr>
            <a:r>
              <a:t>Product Owner selects User Stories for refinement</a:t>
            </a:r>
          </a:p>
          <a:p>
            <a:pPr>
              <a:defRPr sz="2000">
                <a:solidFill>
                  <a:srgbClr val="333333"/>
                </a:solidFill>
              </a:defRPr>
            </a:pPr>
            <a:r>
              <a:t>Team reviews business context and functional requirements</a:t>
            </a:r>
          </a:p>
          <a:p>
            <a:pPr>
              <a:defRPr sz="2000">
                <a:solidFill>
                  <a:srgbClr val="333333"/>
                </a:solidFill>
              </a:defRPr>
            </a:pPr>
            <a:r>
              <a:t>Technical discussion and feasibility assessment</a:t>
            </a:r>
          </a:p>
          <a:p>
            <a:pPr>
              <a:defRPr sz="2000">
                <a:solidFill>
                  <a:srgbClr val="333333"/>
                </a:solidFill>
              </a:defRPr>
            </a:pPr>
            <a:r>
              <a:t>Dependency identification across systems</a:t>
            </a:r>
          </a:p>
          <a:p>
            <a:pPr>
              <a:defRPr sz="2000">
                <a:solidFill>
                  <a:srgbClr val="333333"/>
                </a:solidFill>
              </a:defRPr>
            </a:pPr>
            <a:r>
              <a:t>Initial solution proposal and design</a:t>
            </a:r>
          </a:p>
          <a:p>
            <a:pPr>
              <a:defRPr sz="2000">
                <a:solidFill>
                  <a:srgbClr val="333333"/>
                </a:solidFill>
              </a:defRPr>
            </a:pPr>
            <a:r>
              <a:t>Story estimation using Planning Poker</a:t>
            </a:r>
          </a:p>
          <a:p>
            <a:pPr>
              <a:defRPr sz="2000">
                <a:solidFill>
                  <a:srgbClr val="333333"/>
                </a:solidFill>
              </a:defRPr>
            </a:pPr>
            <a:r>
              <a:t>Definition of Ready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Backlog Refinement Workflow</a:t>
            </a:r>
          </a:p>
        </p:txBody>
      </p:sp>
      <p:sp>
        <p:nvSpPr>
          <p:cNvPr id="5" name="Rounded Rectangle 4"/>
          <p:cNvSpPr/>
          <p:nvPr/>
        </p:nvSpPr>
        <p:spPr>
          <a:xfrm>
            <a:off x="365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Select Story</a:t>
            </a:r>
          </a:p>
        </p:txBody>
      </p:sp>
      <p:sp>
        <p:nvSpPr>
          <p:cNvPr id="6" name="Right Arrow 5"/>
          <p:cNvSpPr/>
          <p:nvPr/>
        </p:nvSpPr>
        <p:spPr>
          <a:xfrm>
            <a:off x="2395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51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Business Context</a:t>
            </a:r>
          </a:p>
        </p:txBody>
      </p:sp>
      <p:sp>
        <p:nvSpPr>
          <p:cNvPr id="8" name="Right Arrow 7"/>
          <p:cNvSpPr/>
          <p:nvPr/>
        </p:nvSpPr>
        <p:spPr>
          <a:xfrm>
            <a:off x="4681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37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Discussion</a:t>
            </a:r>
          </a:p>
        </p:txBody>
      </p:sp>
      <p:sp>
        <p:nvSpPr>
          <p:cNvPr id="10" name="Right Arrow 9"/>
          <p:cNvSpPr/>
          <p:nvPr/>
        </p:nvSpPr>
        <p:spPr>
          <a:xfrm>
            <a:off x="6967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23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Solution Design</a:t>
            </a:r>
          </a:p>
        </p:txBody>
      </p:sp>
      <p:sp>
        <p:nvSpPr>
          <p:cNvPr id="12" name="Right Arrow 11"/>
          <p:cNvSpPr/>
          <p:nvPr/>
        </p:nvSpPr>
        <p:spPr>
          <a:xfrm>
            <a:off x="9253728" y="150876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09760" y="137160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Planning Poker</a:t>
            </a:r>
          </a:p>
        </p:txBody>
      </p:sp>
      <p:sp>
        <p:nvSpPr>
          <p:cNvPr id="14" name="Rounded Rectangle 13"/>
          <p:cNvSpPr/>
          <p:nvPr/>
        </p:nvSpPr>
        <p:spPr>
          <a:xfrm>
            <a:off x="365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Definition of Ready</a:t>
            </a:r>
          </a:p>
        </p:txBody>
      </p:sp>
      <p:sp>
        <p:nvSpPr>
          <p:cNvPr id="15" name="Right Arrow 14"/>
          <p:cNvSpPr/>
          <p:nvPr/>
        </p:nvSpPr>
        <p:spPr>
          <a:xfrm>
            <a:off x="2395728" y="2834640"/>
            <a:ext cx="228600" cy="228600"/>
          </a:xfrm>
          <a:prstGeom prst="rightArrow">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651760" y="2697480"/>
            <a:ext cx="2011680"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Ready for Sprint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Solution Design</a:t>
            </a:r>
          </a:p>
        </p:txBody>
      </p:sp>
      <p:sp>
        <p:nvSpPr>
          <p:cNvPr id="3" name="Text Placeholder 2"/>
          <p:cNvSpPr>
            <a:spLocks noGrp="1"/>
          </p:cNvSpPr>
          <p:nvPr>
            <p:ph type="body" idx="1"/>
          </p:nvPr>
        </p:nvSpPr>
        <p:spPr/>
        <p:txBody>
          <a:bodyPr/>
          <a:lstStyle/>
          <a:p>
            <a:pPr>
              <a:defRPr sz="2000">
                <a:solidFill>
                  <a:srgbClr val="333333"/>
                </a:solidFill>
              </a:defRPr>
            </a:pPr>
            <a:r>
              <a:t>Purpose: Develop technical approach before estimation</a:t>
            </a:r>
          </a:p>
          <a:p>
            <a:pPr>
              <a:defRPr sz="2000">
                <a:solidFill>
                  <a:srgbClr val="333333"/>
                </a:solidFill>
              </a:defRPr>
            </a:pPr>
            <a:r>
              <a:t>Technical discussion with development team</a:t>
            </a:r>
          </a:p>
          <a:p>
            <a:pPr>
              <a:defRPr sz="2000">
                <a:solidFill>
                  <a:srgbClr val="333333"/>
                </a:solidFill>
              </a:defRPr>
            </a:pPr>
            <a:r>
              <a:t>Dependency analysis across Salesforce components</a:t>
            </a:r>
          </a:p>
          <a:p>
            <a:pPr>
              <a:defRPr sz="2000">
                <a:solidFill>
                  <a:srgbClr val="333333"/>
                </a:solidFill>
              </a:defRPr>
            </a:pPr>
            <a:r>
              <a:t>Feasibility assessment for complex requirements</a:t>
            </a:r>
          </a:p>
          <a:p>
            <a:pPr>
              <a:defRPr sz="2000">
                <a:solidFill>
                  <a:srgbClr val="333333"/>
                </a:solidFill>
              </a:defRPr>
            </a:pPr>
            <a:r>
              <a:t>Solution validation with Product Owner</a:t>
            </a:r>
          </a:p>
          <a:p>
            <a:pPr>
              <a:defRPr sz="2000">
                <a:solidFill>
                  <a:srgbClr val="333333"/>
                </a:solidFill>
              </a:defRPr>
            </a:pPr>
            <a:r>
              <a:t>Applicable to: Complex User Stories requiring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Story Estimation: Planning Poker</a:t>
            </a:r>
          </a:p>
        </p:txBody>
      </p:sp>
      <p:sp>
        <p:nvSpPr>
          <p:cNvPr id="3" name="Text Placeholder 2"/>
          <p:cNvSpPr>
            <a:spLocks noGrp="1"/>
          </p:cNvSpPr>
          <p:nvPr>
            <p:ph type="body" idx="1"/>
          </p:nvPr>
        </p:nvSpPr>
        <p:spPr/>
        <p:txBody>
          <a:bodyPr/>
          <a:lstStyle/>
          <a:p>
            <a:pPr>
              <a:defRPr sz="2000">
                <a:solidFill>
                  <a:srgbClr val="333333"/>
                </a:solidFill>
              </a:defRPr>
            </a:pPr>
            <a:r>
              <a:t>Method: Planning Poker (Team-based estimation)</a:t>
            </a:r>
          </a:p>
          <a:p>
            <a:pPr>
              <a:defRPr sz="2000">
                <a:solidFill>
                  <a:srgbClr val="333333"/>
                </a:solidFill>
              </a:defRPr>
            </a:pPr>
            <a:r>
              <a:t>Process: Consensus-driven discussion</a:t>
            </a:r>
          </a:p>
          <a:p>
            <a:pPr>
              <a:defRPr sz="2000">
                <a:solidFill>
                  <a:srgbClr val="333333"/>
                </a:solidFill>
              </a:defRPr>
            </a:pPr>
            <a:r>
              <a:t>Scale: 1 Story Point ≈ 1 Engineering Day</a:t>
            </a:r>
          </a:p>
          <a:p>
            <a:pPr>
              <a:defRPr sz="2000">
                <a:solidFill>
                  <a:srgbClr val="333333"/>
                </a:solidFill>
              </a:defRPr>
            </a:pPr>
            <a:r>
              <a:t>Complex stories refined across multiple sessions</a:t>
            </a:r>
          </a:p>
          <a:p>
            <a:pPr>
              <a:defRPr sz="2000">
                <a:solidFill>
                  <a:srgbClr val="333333"/>
                </a:solidFill>
              </a:defRPr>
            </a:pPr>
            <a:r>
              <a:t>Allows independent solution thinking</a:t>
            </a:r>
          </a:p>
          <a:p>
            <a:pPr>
              <a:defRPr sz="2000">
                <a:solidFill>
                  <a:srgbClr val="333333"/>
                </a:solidFill>
              </a:defRPr>
            </a:pPr>
            <a:r>
              <a:t>All team members participate in estimation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Definition of Ready (DoR)</a:t>
            </a:r>
          </a:p>
        </p:txBody>
      </p:sp>
      <p:sp>
        <p:nvSpPr>
          <p:cNvPr id="3" name="Text Placeholder 2"/>
          <p:cNvSpPr>
            <a:spLocks noGrp="1"/>
          </p:cNvSpPr>
          <p:nvPr>
            <p:ph type="body" idx="1"/>
          </p:nvPr>
        </p:nvSpPr>
        <p:spPr/>
        <p:txBody>
          <a:bodyPr/>
          <a:lstStyle/>
          <a:p>
            <a:pPr>
              <a:defRPr sz="2000">
                <a:solidFill>
                  <a:srgbClr val="333333"/>
                </a:solidFill>
              </a:defRPr>
            </a:pPr>
            <a:r>
              <a:t>Quality gate before Sprint Planning entry</a:t>
            </a:r>
          </a:p>
          <a:p>
            <a:pPr>
              <a:defRPr sz="2000">
                <a:solidFill>
                  <a:srgbClr val="333333"/>
                </a:solidFill>
              </a:defRPr>
            </a:pPr>
            <a:r>
              <a:t>✓ Business value clearly defined</a:t>
            </a:r>
          </a:p>
          <a:p>
            <a:pPr>
              <a:defRPr sz="2000">
                <a:solidFill>
                  <a:srgbClr val="333333"/>
                </a:solidFill>
              </a:defRPr>
            </a:pPr>
            <a:r>
              <a:t>✓ Acceptance criteria available and testable</a:t>
            </a:r>
          </a:p>
          <a:p>
            <a:pPr>
              <a:defRPr sz="2000">
                <a:solidFill>
                  <a:srgbClr val="333333"/>
                </a:solidFill>
              </a:defRPr>
            </a:pPr>
            <a:r>
              <a:t>✓ Initial solution design completed</a:t>
            </a:r>
          </a:p>
          <a:p>
            <a:pPr>
              <a:defRPr sz="2000">
                <a:solidFill>
                  <a:srgbClr val="333333"/>
                </a:solidFill>
              </a:defRPr>
            </a:pPr>
            <a:r>
              <a:t>✓ Dependencies identified and documented</a:t>
            </a:r>
          </a:p>
          <a:p>
            <a:pPr>
              <a:defRPr sz="2000">
                <a:solidFill>
                  <a:srgbClr val="333333"/>
                </a:solidFill>
              </a:defRPr>
            </a:pPr>
            <a:r>
              <a:t>✓ Story estimated using Planning Poker</a:t>
            </a:r>
          </a:p>
          <a:p>
            <a:pPr>
              <a:defRPr sz="2000">
                <a:solidFill>
                  <a:srgbClr val="333333"/>
                </a:solidFill>
              </a:defRPr>
            </a:pPr>
            <a:r>
              <a:t>✓ INVEST criteria validated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INVEST Criteria Validation</a:t>
            </a:r>
          </a:p>
        </p:txBody>
      </p:sp>
      <p:graphicFrame>
        <p:nvGraphicFramePr>
          <p:cNvPr id="5" name="Table 4"/>
          <p:cNvGraphicFramePr>
            <a:graphicFrameLocks noGrp="1"/>
          </p:cNvGraphicFramePr>
          <p:nvPr/>
        </p:nvGraphicFramePr>
        <p:xfrm>
          <a:off x="457200" y="1188720"/>
          <a:ext cx="11247120" cy="2880360"/>
        </p:xfrm>
        <a:graphic>
          <a:graphicData uri="http://schemas.openxmlformats.org/drawingml/2006/table">
            <a:tbl>
              <a:tblPr firstRow="1" bandRow="1">
                <a:tableStyleId>{5C22544A-7EE6-4342-B048-85BDC9FD1C3A}</a:tableStyleId>
              </a:tblPr>
              <a:tblGrid>
                <a:gridCol w="5623560"/>
                <a:gridCol w="5623560"/>
              </a:tblGrid>
              <a:tr h="411480">
                <a:tc>
                  <a:txBody>
                    <a:bodyPr/>
                    <a:lstStyle/>
                    <a:p>
                      <a:pPr>
                        <a:defRPr b="1" sz="1400">
                          <a:solidFill>
                            <a:srgbClr val="FFFFFF"/>
                          </a:solidFill>
                        </a:defRPr>
                      </a:pPr>
                      <a:r>
                        <a:t>Criterion</a:t>
                      </a:r>
                    </a:p>
                  </a:txBody>
                  <a:tcPr>
                    <a:solidFill>
                      <a:srgbClr val="005293"/>
                    </a:solidFill>
                  </a:tcPr>
                </a:tc>
                <a:tc>
                  <a:txBody>
                    <a:bodyPr/>
                    <a:lstStyle/>
                    <a:p>
                      <a:pPr>
                        <a:defRPr b="1" sz="1400">
                          <a:solidFill>
                            <a:srgbClr val="FFFFFF"/>
                          </a:solidFill>
                        </a:defRPr>
                      </a:pPr>
                      <a:r>
                        <a:t>Description</a:t>
                      </a:r>
                    </a:p>
                  </a:txBody>
                  <a:tcPr>
                    <a:solidFill>
                      <a:srgbClr val="005293"/>
                    </a:solidFill>
                  </a:tcPr>
                </a:tc>
              </a:tr>
              <a:tr h="411480">
                <a:tc>
                  <a:txBody>
                    <a:bodyPr/>
                    <a:lstStyle/>
                    <a:p>
                      <a:pPr>
                        <a:defRPr sz="1200">
                          <a:solidFill>
                            <a:srgbClr val="333333"/>
                          </a:solidFill>
                        </a:defRPr>
                      </a:pPr>
                      <a:r>
                        <a:t>Independent</a:t>
                      </a:r>
                    </a:p>
                  </a:txBody>
                  <a:tcPr/>
                </a:tc>
                <a:tc>
                  <a:txBody>
                    <a:bodyPr/>
                    <a:lstStyle/>
                    <a:p>
                      <a:pPr>
                        <a:defRPr sz="1200">
                          <a:solidFill>
                            <a:srgbClr val="333333"/>
                          </a:solidFill>
                        </a:defRPr>
                      </a:pPr>
                      <a:r>
                        <a:t>Can be implemented independently</a:t>
                      </a:r>
                    </a:p>
                  </a:txBody>
                  <a:tcPr/>
                </a:tc>
              </a:tr>
              <a:tr h="411480">
                <a:tc>
                  <a:txBody>
                    <a:bodyPr/>
                    <a:lstStyle/>
                    <a:p>
                      <a:pPr>
                        <a:defRPr sz="1200">
                          <a:solidFill>
                            <a:srgbClr val="333333"/>
                          </a:solidFill>
                        </a:defRPr>
                      </a:pPr>
                      <a:r>
                        <a:t>Negotiable</a:t>
                      </a:r>
                    </a:p>
                  </a:txBody>
                  <a:tcPr/>
                </a:tc>
                <a:tc>
                  <a:txBody>
                    <a:bodyPr/>
                    <a:lstStyle/>
                    <a:p>
                      <a:pPr>
                        <a:defRPr sz="1200">
                          <a:solidFill>
                            <a:srgbClr val="333333"/>
                          </a:solidFill>
                        </a:defRPr>
                      </a:pPr>
                      <a:r>
                        <a:t>Details evolve through discussion</a:t>
                      </a:r>
                    </a:p>
                  </a:txBody>
                  <a:tcPr/>
                </a:tc>
              </a:tr>
              <a:tr h="411480">
                <a:tc>
                  <a:txBody>
                    <a:bodyPr/>
                    <a:lstStyle/>
                    <a:p>
                      <a:pPr>
                        <a:defRPr sz="1200">
                          <a:solidFill>
                            <a:srgbClr val="333333"/>
                          </a:solidFill>
                        </a:defRPr>
                      </a:pPr>
                      <a:r>
                        <a:t>Valuable</a:t>
                      </a:r>
                    </a:p>
                  </a:txBody>
                  <a:tcPr/>
                </a:tc>
                <a:tc>
                  <a:txBody>
                    <a:bodyPr/>
                    <a:lstStyle/>
                    <a:p>
                      <a:pPr>
                        <a:defRPr sz="1200">
                          <a:solidFill>
                            <a:srgbClr val="333333"/>
                          </a:solidFill>
                        </a:defRPr>
                      </a:pPr>
                      <a:r>
                        <a:t>Delivers measurable business value</a:t>
                      </a:r>
                    </a:p>
                  </a:txBody>
                  <a:tcPr/>
                </a:tc>
              </a:tr>
              <a:tr h="411480">
                <a:tc>
                  <a:txBody>
                    <a:bodyPr/>
                    <a:lstStyle/>
                    <a:p>
                      <a:pPr>
                        <a:defRPr sz="1200">
                          <a:solidFill>
                            <a:srgbClr val="333333"/>
                          </a:solidFill>
                        </a:defRPr>
                      </a:pPr>
                      <a:r>
                        <a:t>Estimable</a:t>
                      </a:r>
                    </a:p>
                  </a:txBody>
                  <a:tcPr/>
                </a:tc>
                <a:tc>
                  <a:txBody>
                    <a:bodyPr/>
                    <a:lstStyle/>
                    <a:p>
                      <a:pPr>
                        <a:defRPr sz="1200">
                          <a:solidFill>
                            <a:srgbClr val="333333"/>
                          </a:solidFill>
                        </a:defRPr>
                      </a:pPr>
                      <a:r>
                        <a:t>Team can estimate effort accurately</a:t>
                      </a:r>
                    </a:p>
                  </a:txBody>
                  <a:tcPr/>
                </a:tc>
              </a:tr>
              <a:tr h="411480">
                <a:tc>
                  <a:txBody>
                    <a:bodyPr/>
                    <a:lstStyle/>
                    <a:p>
                      <a:pPr>
                        <a:defRPr sz="1200">
                          <a:solidFill>
                            <a:srgbClr val="333333"/>
                          </a:solidFill>
                        </a:defRPr>
                      </a:pPr>
                      <a:r>
                        <a:t>Small</a:t>
                      </a:r>
                    </a:p>
                  </a:txBody>
                  <a:tcPr/>
                </a:tc>
                <a:tc>
                  <a:txBody>
                    <a:bodyPr/>
                    <a:lstStyle/>
                    <a:p>
                      <a:pPr>
                        <a:defRPr sz="1200">
                          <a:solidFill>
                            <a:srgbClr val="333333"/>
                          </a:solidFill>
                        </a:defRPr>
                      </a:pPr>
                      <a:r>
                        <a:t>Fits within a single Sprint</a:t>
                      </a:r>
                    </a:p>
                  </a:txBody>
                  <a:tcPr/>
                </a:tc>
              </a:tr>
              <a:tr h="411480">
                <a:tc>
                  <a:txBody>
                    <a:bodyPr/>
                    <a:lstStyle/>
                    <a:p>
                      <a:pPr>
                        <a:defRPr sz="1200">
                          <a:solidFill>
                            <a:srgbClr val="333333"/>
                          </a:solidFill>
                        </a:defRPr>
                      </a:pPr>
                      <a:r>
                        <a:t>Testable</a:t>
                      </a:r>
                    </a:p>
                  </a:txBody>
                  <a:tcPr/>
                </a:tc>
                <a:tc>
                  <a:txBody>
                    <a:bodyPr/>
                    <a:lstStyle/>
                    <a:p>
                      <a:pPr>
                        <a:defRPr sz="1200">
                          <a:solidFill>
                            <a:srgbClr val="333333"/>
                          </a:solidFill>
                        </a:defRPr>
                      </a:pPr>
                      <a:r>
                        <a:t>Acceptance criteria are measurable</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Clarification Call Process</a:t>
            </a:r>
          </a:p>
        </p:txBody>
      </p:sp>
      <p:sp>
        <p:nvSpPr>
          <p:cNvPr id="3" name="Text Placeholder 2"/>
          <p:cNvSpPr>
            <a:spLocks noGrp="1"/>
          </p:cNvSpPr>
          <p:nvPr>
            <p:ph type="body" idx="1"/>
          </p:nvPr>
        </p:nvSpPr>
        <p:spPr/>
        <p:txBody>
          <a:bodyPr/>
          <a:lstStyle/>
          <a:p>
            <a:pPr>
              <a:defRPr sz="2000">
                <a:solidFill>
                  <a:srgbClr val="333333"/>
                </a:solidFill>
              </a:defRPr>
            </a:pPr>
            <a:r>
              <a:t>Purpose: Resolve outstanding questions promptly</a:t>
            </a:r>
          </a:p>
          <a:p>
            <a:pPr>
              <a:defRPr sz="2000">
                <a:solidFill>
                  <a:srgbClr val="333333"/>
                </a:solidFill>
              </a:defRPr>
            </a:pPr>
            <a:r>
              <a:t>Frequency: Daily (as required)</a:t>
            </a:r>
          </a:p>
          <a:p>
            <a:pPr>
              <a:defRPr sz="2000">
                <a:solidFill>
                  <a:srgbClr val="333333"/>
                </a:solidFill>
              </a:defRPr>
            </a:pPr>
            <a:r>
              <a:t>Participants: PO, Scrum Master, Development Team</a:t>
            </a:r>
          </a:p>
          <a:p>
            <a:pPr>
              <a:defRPr sz="2000">
                <a:solidFill>
                  <a:srgbClr val="333333"/>
                </a:solidFill>
              </a:defRPr>
            </a:pPr>
            <a:r>
              <a:t>Outcomes:</a:t>
            </a:r>
          </a:p>
          <a:p>
            <a:pPr>
              <a:defRPr sz="2000">
                <a:solidFill>
                  <a:srgbClr val="333333"/>
                </a:solidFill>
              </a:defRPr>
            </a:pPr>
            <a:r>
              <a:t>  • Blockers resolved same day</a:t>
            </a:r>
          </a:p>
          <a:p>
            <a:pPr>
              <a:defRPr sz="2000">
                <a:solidFill>
                  <a:srgbClr val="333333"/>
                </a:solidFill>
              </a:defRPr>
            </a:pPr>
            <a:r>
              <a:t>  • Requirements clarified</a:t>
            </a:r>
          </a:p>
          <a:p>
            <a:pPr>
              <a:defRPr sz="2000">
                <a:solidFill>
                  <a:srgbClr val="333333"/>
                </a:solidFill>
              </a:defRPr>
            </a:pPr>
            <a:r>
              <a:t>  • Interim reviews conducted when needed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Sprint Planning</a:t>
            </a:r>
          </a:p>
        </p:txBody>
      </p:sp>
      <p:sp>
        <p:nvSpPr>
          <p:cNvPr id="3" name="Text Placeholder 2"/>
          <p:cNvSpPr>
            <a:spLocks noGrp="1"/>
          </p:cNvSpPr>
          <p:nvPr>
            <p:ph type="body" idx="1"/>
          </p:nvPr>
        </p:nvSpPr>
        <p:spPr/>
        <p:txBody>
          <a:bodyPr/>
          <a:lstStyle/>
          <a:p>
            <a:pPr>
              <a:defRPr sz="2000">
                <a:solidFill>
                  <a:srgbClr val="333333"/>
                </a:solidFill>
              </a:defRPr>
            </a:pPr>
            <a:r>
              <a:t>Only Ready for Sprint stories can enter Sprint</a:t>
            </a:r>
          </a:p>
          <a:p>
            <a:pPr>
              <a:defRPr sz="2000">
                <a:solidFill>
                  <a:srgbClr val="333333"/>
                </a:solidFill>
              </a:defRPr>
            </a:pPr>
            <a:r>
              <a:t>Sprint Goal presented by Product Owner</a:t>
            </a:r>
          </a:p>
          <a:p>
            <a:pPr>
              <a:defRPr sz="2000">
                <a:solidFill>
                  <a:srgbClr val="333333"/>
                </a:solidFill>
              </a:defRPr>
            </a:pPr>
            <a:r>
              <a:t>Team capacity reviewed and validated</a:t>
            </a:r>
          </a:p>
          <a:p>
            <a:pPr>
              <a:defRPr sz="2000">
                <a:solidFill>
                  <a:srgbClr val="333333"/>
                </a:solidFill>
              </a:defRPr>
            </a:pPr>
            <a:r>
              <a:t>User Stories selected based on priority and capacity</a:t>
            </a:r>
          </a:p>
          <a:p>
            <a:pPr>
              <a:defRPr sz="2000">
                <a:solidFill>
                  <a:srgbClr val="333333"/>
                </a:solidFill>
              </a:defRPr>
            </a:pPr>
            <a:r>
              <a:t>Sprint Backlog finalized</a:t>
            </a:r>
          </a:p>
          <a:p>
            <a:pPr>
              <a:defRPr sz="2000">
                <a:solidFill>
                  <a:srgbClr val="333333"/>
                </a:solidFill>
              </a:defRPr>
            </a:pPr>
            <a:r>
              <a:t>Team commits to Sprint delivery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Requirement Quality Gates</a:t>
            </a:r>
          </a:p>
        </p:txBody>
      </p:sp>
      <p:graphicFrame>
        <p:nvGraphicFramePr>
          <p:cNvPr id="5" name="Table 4"/>
          <p:cNvGraphicFramePr>
            <a:graphicFrameLocks noGrp="1"/>
          </p:cNvGraphicFramePr>
          <p:nvPr/>
        </p:nvGraphicFramePr>
        <p:xfrm>
          <a:off x="457200" y="1188720"/>
          <a:ext cx="11247120" cy="2880360"/>
        </p:xfrm>
        <a:graphic>
          <a:graphicData uri="http://schemas.openxmlformats.org/drawingml/2006/table">
            <a:tbl>
              <a:tblPr firstRow="1" bandRow="1">
                <a:tableStyleId>{5C22544A-7EE6-4342-B048-85BDC9FD1C3A}</a:tableStyleId>
              </a:tblPr>
              <a:tblGrid>
                <a:gridCol w="5623560"/>
                <a:gridCol w="5623560"/>
              </a:tblGrid>
              <a:tr h="411480">
                <a:tc>
                  <a:txBody>
                    <a:bodyPr/>
                    <a:lstStyle/>
                    <a:p>
                      <a:pPr>
                        <a:defRPr b="1" sz="1400">
                          <a:solidFill>
                            <a:srgbClr val="FFFFFF"/>
                          </a:solidFill>
                        </a:defRPr>
                      </a:pPr>
                      <a:r>
                        <a:t>Stage</a:t>
                      </a:r>
                    </a:p>
                  </a:txBody>
                  <a:tcPr>
                    <a:solidFill>
                      <a:srgbClr val="005293"/>
                    </a:solidFill>
                  </a:tcPr>
                </a:tc>
                <a:tc>
                  <a:txBody>
                    <a:bodyPr/>
                    <a:lstStyle/>
                    <a:p>
                      <a:pPr>
                        <a:defRPr b="1" sz="1400">
                          <a:solidFill>
                            <a:srgbClr val="FFFFFF"/>
                          </a:solidFill>
                        </a:defRPr>
                      </a:pPr>
                      <a:r>
                        <a:t>Quality Check</a:t>
                      </a:r>
                    </a:p>
                  </a:txBody>
                  <a:tcPr>
                    <a:solidFill>
                      <a:srgbClr val="005293"/>
                    </a:solidFill>
                  </a:tcPr>
                </a:tc>
              </a:tr>
              <a:tr h="411480">
                <a:tc>
                  <a:txBody>
                    <a:bodyPr/>
                    <a:lstStyle/>
                    <a:p>
                      <a:pPr>
                        <a:defRPr sz="1200">
                          <a:solidFill>
                            <a:srgbClr val="333333"/>
                          </a:solidFill>
                        </a:defRPr>
                      </a:pPr>
                      <a:r>
                        <a:t>Requirement Capture</a:t>
                      </a:r>
                    </a:p>
                  </a:txBody>
                  <a:tcPr/>
                </a:tc>
                <a:tc>
                  <a:txBody>
                    <a:bodyPr/>
                    <a:lstStyle/>
                    <a:p>
                      <a:pPr>
                        <a:defRPr sz="1200">
                          <a:solidFill>
                            <a:srgbClr val="333333"/>
                          </a:solidFill>
                        </a:defRPr>
                      </a:pPr>
                      <a:r>
                        <a:t>Business Need Validated</a:t>
                      </a:r>
                    </a:p>
                  </a:txBody>
                  <a:tcPr/>
                </a:tc>
              </a:tr>
              <a:tr h="411480">
                <a:tc>
                  <a:txBody>
                    <a:bodyPr/>
                    <a:lstStyle/>
                    <a:p>
                      <a:pPr>
                        <a:defRPr sz="1200">
                          <a:solidFill>
                            <a:srgbClr val="333333"/>
                          </a:solidFill>
                        </a:defRPr>
                      </a:pPr>
                      <a:r>
                        <a:t>Backlog Refinement</a:t>
                      </a:r>
                    </a:p>
                  </a:txBody>
                  <a:tcPr/>
                </a:tc>
                <a:tc>
                  <a:txBody>
                    <a:bodyPr/>
                    <a:lstStyle/>
                    <a:p>
                      <a:pPr>
                        <a:defRPr sz="1200">
                          <a:solidFill>
                            <a:srgbClr val="333333"/>
                          </a:solidFill>
                        </a:defRPr>
                      </a:pPr>
                      <a:r>
                        <a:t>Functional Review Complete</a:t>
                      </a:r>
                    </a:p>
                  </a:txBody>
                  <a:tcPr/>
                </a:tc>
              </a:tr>
              <a:tr h="411480">
                <a:tc>
                  <a:txBody>
                    <a:bodyPr/>
                    <a:lstStyle/>
                    <a:p>
                      <a:pPr>
                        <a:defRPr sz="1200">
                          <a:solidFill>
                            <a:srgbClr val="333333"/>
                          </a:solidFill>
                        </a:defRPr>
                      </a:pPr>
                      <a:r>
                        <a:t>Solution Design</a:t>
                      </a:r>
                    </a:p>
                  </a:txBody>
                  <a:tcPr/>
                </a:tc>
                <a:tc>
                  <a:txBody>
                    <a:bodyPr/>
                    <a:lstStyle/>
                    <a:p>
                      <a:pPr>
                        <a:defRPr sz="1200">
                          <a:solidFill>
                            <a:srgbClr val="333333"/>
                          </a:solidFill>
                        </a:defRPr>
                      </a:pPr>
                      <a:r>
                        <a:t>Technical Review Approved</a:t>
                      </a:r>
                    </a:p>
                  </a:txBody>
                  <a:tcPr/>
                </a:tc>
              </a:tr>
              <a:tr h="411480">
                <a:tc>
                  <a:txBody>
                    <a:bodyPr/>
                    <a:lstStyle/>
                    <a:p>
                      <a:pPr>
                        <a:defRPr sz="1200">
                          <a:solidFill>
                            <a:srgbClr val="333333"/>
                          </a:solidFill>
                        </a:defRPr>
                      </a:pPr>
                      <a:r>
                        <a:t>Estimation</a:t>
                      </a:r>
                    </a:p>
                  </a:txBody>
                  <a:tcPr/>
                </a:tc>
                <a:tc>
                  <a:txBody>
                    <a:bodyPr/>
                    <a:lstStyle/>
                    <a:p>
                      <a:pPr>
                        <a:defRPr sz="1200">
                          <a:solidFill>
                            <a:srgbClr val="333333"/>
                          </a:solidFill>
                        </a:defRPr>
                      </a:pPr>
                      <a:r>
                        <a:t>Planning Poker Completed</a:t>
                      </a:r>
                    </a:p>
                  </a:txBody>
                  <a:tcPr/>
                </a:tc>
              </a:tr>
              <a:tr h="411480">
                <a:tc>
                  <a:txBody>
                    <a:bodyPr/>
                    <a:lstStyle/>
                    <a:p>
                      <a:pPr>
                        <a:defRPr sz="1200">
                          <a:solidFill>
                            <a:srgbClr val="333333"/>
                          </a:solidFill>
                        </a:defRPr>
                      </a:pPr>
                      <a:r>
                        <a:t>Definition of Ready</a:t>
                      </a:r>
                    </a:p>
                  </a:txBody>
                  <a:tcPr/>
                </a:tc>
                <a:tc>
                  <a:txBody>
                    <a:bodyPr/>
                    <a:lstStyle/>
                    <a:p>
                      <a:pPr>
                        <a:defRPr sz="1200">
                          <a:solidFill>
                            <a:srgbClr val="333333"/>
                          </a:solidFill>
                        </a:defRPr>
                      </a:pPr>
                      <a:r>
                        <a:t>INVEST Compliance Verified</a:t>
                      </a:r>
                    </a:p>
                  </a:txBody>
                  <a:tcPr/>
                </a:tc>
              </a:tr>
              <a:tr h="411480">
                <a:tc>
                  <a:txBody>
                    <a:bodyPr/>
                    <a:lstStyle/>
                    <a:p>
                      <a:pPr>
                        <a:defRPr sz="1200">
                          <a:solidFill>
                            <a:srgbClr val="333333"/>
                          </a:solidFill>
                        </a:defRPr>
                      </a:pPr>
                      <a:r>
                        <a:t>Sprint Planning</a:t>
                      </a:r>
                    </a:p>
                  </a:txBody>
                  <a:tcPr/>
                </a:tc>
                <a:tc>
                  <a:txBody>
                    <a:bodyPr/>
                    <a:lstStyle/>
                    <a:p>
                      <a:pPr>
                        <a:defRPr sz="1200">
                          <a:solidFill>
                            <a:srgbClr val="333333"/>
                          </a:solidFill>
                        </a:defRPr>
                      </a:pPr>
                      <a:r>
                        <a:t>Capacity Validation Done</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Project Organization</a:t>
            </a:r>
          </a:p>
        </p:txBody>
      </p:sp>
      <p:sp>
        <p:nvSpPr>
          <p:cNvPr id="5" name="TextBox 4"/>
          <p:cNvSpPr txBox="1"/>
          <p:nvPr/>
        </p:nvSpPr>
        <p:spPr>
          <a:xfrm>
            <a:off x="457200" y="1188720"/>
            <a:ext cx="5303520" cy="5029200"/>
          </a:xfrm>
          <a:prstGeom prst="rect">
            <a:avLst/>
          </a:prstGeom>
          <a:noFill/>
        </p:spPr>
        <p:txBody>
          <a:bodyPr wrap="square">
            <a:spAutoFit/>
          </a:bodyPr>
          <a:lstStyle/>
          <a:p>
            <a:pPr>
              <a:defRPr sz="1800" b="1">
                <a:solidFill>
                  <a:srgbClr val="005293"/>
                </a:solidFill>
              </a:defRPr>
            </a:pPr>
            <a:r>
              <a:t>Onsite Team:</a:t>
            </a:r>
          </a:p>
          <a:p>
            <a:pPr>
              <a:defRPr sz="1800">
                <a:solidFill>
                  <a:srgbClr val="333333"/>
                </a:solidFill>
              </a:defRPr>
            </a:pPr>
            <a:r>
              <a:t>• Business Sponsor: Marion Dietrich</a:t>
            </a:r>
          </a:p>
          <a:p>
            <a:pPr>
              <a:defRPr sz="1800">
                <a:solidFill>
                  <a:srgbClr val="333333"/>
                </a:solidFill>
              </a:defRPr>
            </a:pPr>
            <a:r>
              <a:t>• Product Owner: Christoph Zaenker</a:t>
            </a:r>
          </a:p>
          <a:p>
            <a:pPr>
              <a:defRPr sz="1800">
                <a:solidFill>
                  <a:srgbClr val="333333"/>
                </a:solidFill>
              </a:defRPr>
            </a:pPr>
            <a:r>
              <a:t>• Business Analyst: Fractional BA</a:t>
            </a:r>
          </a:p>
          <a:p>
            <a:pPr>
              <a:defRPr sz="1800">
                <a:solidFill>
                  <a:srgbClr val="333333"/>
                </a:solidFill>
              </a:defRPr>
            </a:pPr>
          </a:p>
          <a:p>
            <a:pPr>
              <a:defRPr sz="1800" b="1">
                <a:solidFill>
                  <a:srgbClr val="005293"/>
                </a:solidFill>
              </a:defRPr>
            </a:pPr>
            <a:r>
              <a:t>QA Team:</a:t>
            </a:r>
          </a:p>
          <a:p>
            <a:pPr>
              <a:defRPr sz="1800">
                <a:solidFill>
                  <a:srgbClr val="333333"/>
                </a:solidFill>
              </a:defRPr>
            </a:pPr>
            <a:r>
              <a:t>• Test Manager: Manish Singhal</a:t>
            </a:r>
          </a:p>
          <a:p>
            <a:pPr>
              <a:defRPr sz="1800">
                <a:solidFill>
                  <a:srgbClr val="333333"/>
                </a:solidFill>
              </a:defRPr>
            </a:pPr>
            <a:r>
              <a:t>• Test Engineer: Rishabh Bhatt</a:t>
            </a:r>
          </a:p>
        </p:txBody>
      </p:sp>
      <p:sp>
        <p:nvSpPr>
          <p:cNvPr id="6" name="TextBox 5"/>
          <p:cNvSpPr txBox="1"/>
          <p:nvPr/>
        </p:nvSpPr>
        <p:spPr>
          <a:xfrm>
            <a:off x="6217920" y="1188720"/>
            <a:ext cx="5303520" cy="5029200"/>
          </a:xfrm>
          <a:prstGeom prst="rect">
            <a:avLst/>
          </a:prstGeom>
          <a:noFill/>
        </p:spPr>
        <p:txBody>
          <a:bodyPr wrap="square">
            <a:spAutoFit/>
          </a:bodyPr>
          <a:lstStyle/>
          <a:p>
            <a:pPr>
              <a:defRPr sz="1800" b="1">
                <a:solidFill>
                  <a:srgbClr val="005293"/>
                </a:solidFill>
              </a:defRPr>
            </a:pPr>
            <a:r>
              <a:t>Offshore Team:</a:t>
            </a:r>
          </a:p>
          <a:p>
            <a:pPr>
              <a:defRPr sz="1800">
                <a:solidFill>
                  <a:srgbClr val="333333"/>
                </a:solidFill>
              </a:defRPr>
            </a:pPr>
            <a:r>
              <a:t>• DU Head: Vishal Kalra</a:t>
            </a:r>
          </a:p>
          <a:p>
            <a:pPr>
              <a:defRPr sz="1800">
                <a:solidFill>
                  <a:srgbClr val="333333"/>
                </a:solidFill>
              </a:defRPr>
            </a:pPr>
            <a:r>
              <a:t>• Scrum Master: Apparao Maroju</a:t>
            </a:r>
          </a:p>
          <a:p>
            <a:pPr>
              <a:defRPr sz="1800">
                <a:solidFill>
                  <a:srgbClr val="333333"/>
                </a:solidFill>
              </a:defRPr>
            </a:pPr>
            <a:r>
              <a:t>• Account Expert: Ila</a:t>
            </a:r>
          </a:p>
          <a:p>
            <a:pPr>
              <a:defRPr sz="1800">
                <a:solidFill>
                  <a:srgbClr val="333333"/>
                </a:solidFill>
              </a:defRPr>
            </a:pPr>
            <a:r>
              <a:t>• Ops Manager: Charu Bisht</a:t>
            </a:r>
          </a:p>
          <a:p>
            <a:pPr>
              <a:defRPr sz="1800">
                <a:solidFill>
                  <a:srgbClr val="333333"/>
                </a:solidFill>
              </a:defRPr>
            </a:pPr>
            <a:r>
              <a:t>• Developers: Sunaina, Manmohan</a:t>
            </a:r>
          </a:p>
          <a:p>
            <a:pPr>
              <a:defRPr sz="1800">
                <a:solidFill>
                  <a:srgbClr val="333333"/>
                </a:solidFill>
              </a:defRPr>
            </a:pPr>
            <a:r>
              <a:t>  Pratap, Shashwat Mishra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Types of Work</a:t>
            </a:r>
          </a:p>
        </p:txBody>
      </p:sp>
      <p:sp>
        <p:nvSpPr>
          <p:cNvPr id="3" name="Text Placeholder 2"/>
          <p:cNvSpPr>
            <a:spLocks noGrp="1"/>
          </p:cNvSpPr>
          <p:nvPr>
            <p:ph type="body" idx="1"/>
          </p:nvPr>
        </p:nvSpPr>
        <p:spPr/>
        <p:txBody>
          <a:bodyPr/>
          <a:lstStyle/>
          <a:p>
            <a:pPr>
              <a:defRPr sz="2000">
                <a:solidFill>
                  <a:srgbClr val="333333"/>
                </a:solidFill>
              </a:defRPr>
            </a:pPr>
            <a:r>
              <a:t>User Story:</a:t>
            </a:r>
          </a:p>
          <a:p>
            <a:pPr>
              <a:defRPr sz="2000">
                <a:solidFill>
                  <a:srgbClr val="333333"/>
                </a:solidFill>
              </a:defRPr>
            </a:pPr>
            <a:r>
              <a:t>  • Functional or technical enhancements</a:t>
            </a:r>
          </a:p>
          <a:p>
            <a:pPr>
              <a:defRPr sz="2000">
                <a:solidFill>
                  <a:srgbClr val="333333"/>
                </a:solidFill>
              </a:defRPr>
            </a:pPr>
            <a:r>
              <a:t>  • Full Scrum lifecycle application</a:t>
            </a:r>
          </a:p>
          <a:p>
            <a:pPr>
              <a:defRPr sz="2000">
                <a:solidFill>
                  <a:srgbClr val="333333"/>
                </a:solidFill>
              </a:defRPr>
            </a:pPr>
            <a:r>
              <a:t>  • Complete refinement and estimation</a:t>
            </a:r>
          </a:p>
          <a:p>
            <a:pPr>
              <a:defRPr sz="2000">
                <a:solidFill>
                  <a:srgbClr val="333333"/>
                </a:solidFill>
              </a:defRPr>
            </a:pPr>
          </a:p>
          <a:p>
            <a:pPr>
              <a:defRPr sz="2000">
                <a:solidFill>
                  <a:srgbClr val="333333"/>
                </a:solidFill>
              </a:defRPr>
            </a:pPr>
            <a:r>
              <a:t>Minor Change:</a:t>
            </a:r>
          </a:p>
          <a:p>
            <a:pPr>
              <a:defRPr sz="2000">
                <a:solidFill>
                  <a:srgbClr val="333333"/>
                </a:solidFill>
              </a:defRPr>
            </a:pPr>
            <a:r>
              <a:t>  • Small configuration changes</a:t>
            </a:r>
          </a:p>
          <a:p>
            <a:pPr>
              <a:defRPr sz="2000">
                <a:solidFill>
                  <a:srgbClr val="333333"/>
                </a:solidFill>
              </a:defRPr>
            </a:pPr>
            <a:r>
              <a:t>  • Completed within ~4 hours</a:t>
            </a:r>
          </a:p>
          <a:p>
            <a:pPr>
              <a:defRPr sz="2000">
                <a:solidFill>
                  <a:srgbClr val="333333"/>
                </a:solidFill>
              </a:defRPr>
            </a:pPr>
            <a:r>
              <a:t>  • Streamlined approval process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Requirement Traceability</a:t>
            </a:r>
          </a:p>
        </p:txBody>
      </p:sp>
      <p:graphicFrame>
        <p:nvGraphicFramePr>
          <p:cNvPr id="5" name="Table 4"/>
          <p:cNvGraphicFramePr>
            <a:graphicFrameLocks noGrp="1"/>
          </p:cNvGraphicFramePr>
          <p:nvPr/>
        </p:nvGraphicFramePr>
        <p:xfrm>
          <a:off x="457200" y="1188720"/>
          <a:ext cx="11247120" cy="4114800"/>
        </p:xfrm>
        <a:graphic>
          <a:graphicData uri="http://schemas.openxmlformats.org/drawingml/2006/table">
            <a:tbl>
              <a:tblPr firstRow="1" bandRow="1">
                <a:tableStyleId>{5C22544A-7EE6-4342-B048-85BDC9FD1C3A}</a:tableStyleId>
              </a:tblPr>
              <a:tblGrid>
                <a:gridCol w="5623560"/>
                <a:gridCol w="5623560"/>
              </a:tblGrid>
              <a:tr h="411480">
                <a:tc>
                  <a:txBody>
                    <a:bodyPr/>
                    <a:lstStyle/>
                    <a:p>
                      <a:pPr>
                        <a:defRPr b="1" sz="1400">
                          <a:solidFill>
                            <a:srgbClr val="FFFFFF"/>
                          </a:solidFill>
                        </a:defRPr>
                      </a:pPr>
                      <a:r>
                        <a:t>Phase</a:t>
                      </a:r>
                    </a:p>
                  </a:txBody>
                  <a:tcPr>
                    <a:solidFill>
                      <a:srgbClr val="005293"/>
                    </a:solidFill>
                  </a:tcPr>
                </a:tc>
                <a:tc>
                  <a:txBody>
                    <a:bodyPr/>
                    <a:lstStyle/>
                    <a:p>
                      <a:pPr>
                        <a:defRPr b="1" sz="1400">
                          <a:solidFill>
                            <a:srgbClr val="FFFFFF"/>
                          </a:solidFill>
                        </a:defRPr>
                      </a:pPr>
                      <a:r>
                        <a:t>Evidence</a:t>
                      </a:r>
                    </a:p>
                  </a:txBody>
                  <a:tcPr>
                    <a:solidFill>
                      <a:srgbClr val="005293"/>
                    </a:solidFill>
                  </a:tcPr>
                </a:tc>
              </a:tr>
              <a:tr h="411480">
                <a:tc>
                  <a:txBody>
                    <a:bodyPr/>
                    <a:lstStyle/>
                    <a:p>
                      <a:pPr>
                        <a:defRPr sz="1200">
                          <a:solidFill>
                            <a:srgbClr val="333333"/>
                          </a:solidFill>
                        </a:defRPr>
                      </a:pPr>
                      <a:r>
                        <a:t>Business Request</a:t>
                      </a:r>
                    </a:p>
                  </a:txBody>
                  <a:tcPr/>
                </a:tc>
                <a:tc>
                  <a:txBody>
                    <a:bodyPr/>
                    <a:lstStyle/>
                    <a:p>
                      <a:pPr>
                        <a:defRPr sz="1200">
                          <a:solidFill>
                            <a:srgbClr val="333333"/>
                          </a:solidFill>
                        </a:defRPr>
                      </a:pPr>
                      <a:r>
                        <a:t>Business Requirement</a:t>
                      </a:r>
                    </a:p>
                  </a:txBody>
                  <a:tcPr/>
                </a:tc>
              </a:tr>
              <a:tr h="411480">
                <a:tc>
                  <a:txBody>
                    <a:bodyPr/>
                    <a:lstStyle/>
                    <a:p>
                      <a:pPr>
                        <a:defRPr sz="1200">
                          <a:solidFill>
                            <a:srgbClr val="333333"/>
                          </a:solidFill>
                        </a:defRPr>
                      </a:pPr>
                      <a:r>
                        <a:t>Product Backlog</a:t>
                      </a:r>
                    </a:p>
                  </a:txBody>
                  <a:tcPr/>
                </a:tc>
                <a:tc>
                  <a:txBody>
                    <a:bodyPr/>
                    <a:lstStyle/>
                    <a:p>
                      <a:pPr>
                        <a:defRPr sz="1200">
                          <a:solidFill>
                            <a:srgbClr val="333333"/>
                          </a:solidFill>
                        </a:defRPr>
                      </a:pPr>
                      <a:r>
                        <a:t>Jira PBI</a:t>
                      </a:r>
                    </a:p>
                  </a:txBody>
                  <a:tcPr/>
                </a:tc>
              </a:tr>
              <a:tr h="411480">
                <a:tc>
                  <a:txBody>
                    <a:bodyPr/>
                    <a:lstStyle/>
                    <a:p>
                      <a:pPr>
                        <a:defRPr sz="1200">
                          <a:solidFill>
                            <a:srgbClr val="333333"/>
                          </a:solidFill>
                        </a:defRPr>
                      </a:pPr>
                      <a:r>
                        <a:t>Solution Design</a:t>
                      </a:r>
                    </a:p>
                  </a:txBody>
                  <a:tcPr/>
                </a:tc>
                <a:tc>
                  <a:txBody>
                    <a:bodyPr/>
                    <a:lstStyle/>
                    <a:p>
                      <a:pPr>
                        <a:defRPr sz="1200">
                          <a:solidFill>
                            <a:srgbClr val="333333"/>
                          </a:solidFill>
                        </a:defRPr>
                      </a:pPr>
                      <a:r>
                        <a:t>Design Documentation</a:t>
                      </a:r>
                    </a:p>
                  </a:txBody>
                  <a:tcPr/>
                </a:tc>
              </a:tr>
              <a:tr h="411480">
                <a:tc>
                  <a:txBody>
                    <a:bodyPr/>
                    <a:lstStyle/>
                    <a:p>
                      <a:pPr>
                        <a:defRPr sz="1200">
                          <a:solidFill>
                            <a:srgbClr val="333333"/>
                          </a:solidFill>
                        </a:defRPr>
                      </a:pPr>
                      <a:r>
                        <a:t>Estimation</a:t>
                      </a:r>
                    </a:p>
                  </a:txBody>
                  <a:tcPr/>
                </a:tc>
                <a:tc>
                  <a:txBody>
                    <a:bodyPr/>
                    <a:lstStyle/>
                    <a:p>
                      <a:pPr>
                        <a:defRPr sz="1200">
                          <a:solidFill>
                            <a:srgbClr val="333333"/>
                          </a:solidFill>
                        </a:defRPr>
                      </a:pPr>
                      <a:r>
                        <a:t>Planning Poker Record</a:t>
                      </a:r>
                    </a:p>
                  </a:txBody>
                  <a:tcPr/>
                </a:tc>
              </a:tr>
              <a:tr h="411480">
                <a:tc>
                  <a:txBody>
                    <a:bodyPr/>
                    <a:lstStyle/>
                    <a:p>
                      <a:pPr>
                        <a:defRPr sz="1200">
                          <a:solidFill>
                            <a:srgbClr val="333333"/>
                          </a:solidFill>
                        </a:defRPr>
                      </a:pPr>
                      <a:r>
                        <a:t>Ready for Sprint</a:t>
                      </a:r>
                    </a:p>
                  </a:txBody>
                  <a:tcPr/>
                </a:tc>
                <a:tc>
                  <a:txBody>
                    <a:bodyPr/>
                    <a:lstStyle/>
                    <a:p>
                      <a:pPr>
                        <a:defRPr sz="1200">
                          <a:solidFill>
                            <a:srgbClr val="333333"/>
                          </a:solidFill>
                        </a:defRPr>
                      </a:pPr>
                      <a:r>
                        <a:t>DoR Checklist</a:t>
                      </a:r>
                    </a:p>
                  </a:txBody>
                  <a:tcPr/>
                </a:tc>
              </a:tr>
              <a:tr h="411480">
                <a:tc>
                  <a:txBody>
                    <a:bodyPr/>
                    <a:lstStyle/>
                    <a:p>
                      <a:pPr>
                        <a:defRPr sz="1200">
                          <a:solidFill>
                            <a:srgbClr val="333333"/>
                          </a:solidFill>
                        </a:defRPr>
                      </a:pPr>
                      <a:r>
                        <a:t>Sprint Planning</a:t>
                      </a:r>
                    </a:p>
                  </a:txBody>
                  <a:tcPr/>
                </a:tc>
                <a:tc>
                  <a:txBody>
                    <a:bodyPr/>
                    <a:lstStyle/>
                    <a:p>
                      <a:pPr>
                        <a:defRPr sz="1200">
                          <a:solidFill>
                            <a:srgbClr val="333333"/>
                          </a:solidFill>
                        </a:defRPr>
                      </a:pPr>
                      <a:r>
                        <a:t>Sprint Backlog</a:t>
                      </a:r>
                    </a:p>
                  </a:txBody>
                  <a:tcPr/>
                </a:tc>
              </a:tr>
              <a:tr h="411480">
                <a:tc>
                  <a:txBody>
                    <a:bodyPr/>
                    <a:lstStyle/>
                    <a:p>
                      <a:pPr>
                        <a:defRPr sz="1200">
                          <a:solidFill>
                            <a:srgbClr val="333333"/>
                          </a:solidFill>
                        </a:defRPr>
                      </a:pPr>
                      <a:r>
                        <a:t>Development</a:t>
                      </a:r>
                    </a:p>
                  </a:txBody>
                  <a:tcPr/>
                </a:tc>
                <a:tc>
                  <a:txBody>
                    <a:bodyPr/>
                    <a:lstStyle/>
                    <a:p>
                      <a:pPr>
                        <a:defRPr sz="1200">
                          <a:solidFill>
                            <a:srgbClr val="333333"/>
                          </a:solidFill>
                        </a:defRPr>
                      </a:pPr>
                      <a:r>
                        <a:t>Source Code</a:t>
                      </a:r>
                    </a:p>
                  </a:txBody>
                  <a:tcPr/>
                </a:tc>
              </a:tr>
              <a:tr h="411480">
                <a:tc>
                  <a:txBody>
                    <a:bodyPr/>
                    <a:lstStyle/>
                    <a:p>
                      <a:pPr>
                        <a:defRPr sz="1200">
                          <a:solidFill>
                            <a:srgbClr val="333333"/>
                          </a:solidFill>
                        </a:defRPr>
                      </a:pPr>
                      <a:r>
                        <a:t>Testing</a:t>
                      </a:r>
                    </a:p>
                  </a:txBody>
                  <a:tcPr/>
                </a:tc>
                <a:tc>
                  <a:txBody>
                    <a:bodyPr/>
                    <a:lstStyle/>
                    <a:p>
                      <a:pPr>
                        <a:defRPr sz="1200">
                          <a:solidFill>
                            <a:srgbClr val="333333"/>
                          </a:solidFill>
                        </a:defRPr>
                      </a:pPr>
                      <a:r>
                        <a:t>Test Cases</a:t>
                      </a:r>
                    </a:p>
                  </a:txBody>
                  <a:tcPr/>
                </a:tc>
              </a:tr>
              <a:tr h="411480">
                <a:tc>
                  <a:txBody>
                    <a:bodyPr/>
                    <a:lstStyle/>
                    <a:p>
                      <a:pPr>
                        <a:defRPr sz="1200">
                          <a:solidFill>
                            <a:srgbClr val="333333"/>
                          </a:solidFill>
                        </a:defRPr>
                      </a:pPr>
                      <a:r>
                        <a:t>Deployment</a:t>
                      </a:r>
                    </a:p>
                  </a:txBody>
                  <a:tcPr/>
                </a:tc>
                <a:tc>
                  <a:txBody>
                    <a:bodyPr/>
                    <a:lstStyle/>
                    <a:p>
                      <a:pPr>
                        <a:defRPr sz="1200">
                          <a:solidFill>
                            <a:srgbClr val="333333"/>
                          </a:solidFill>
                        </a:defRPr>
                      </a:pPr>
                      <a:r>
                        <a:t>Release Notes</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Business Change Categories</a:t>
            </a:r>
          </a:p>
        </p:txBody>
      </p:sp>
      <p:sp>
        <p:nvSpPr>
          <p:cNvPr id="3" name="Text Placeholder 2"/>
          <p:cNvSpPr>
            <a:spLocks noGrp="1"/>
          </p:cNvSpPr>
          <p:nvPr>
            <p:ph type="body" idx="1"/>
          </p:nvPr>
        </p:nvSpPr>
        <p:spPr/>
        <p:txBody>
          <a:bodyPr/>
          <a:lstStyle/>
          <a:p>
            <a:pPr>
              <a:defRPr sz="2000">
                <a:solidFill>
                  <a:srgbClr val="333333"/>
                </a:solidFill>
              </a:defRPr>
            </a:pPr>
            <a:r>
              <a:t>Process Changes: Lead Qualification Workflows</a:t>
            </a:r>
          </a:p>
          <a:p>
            <a:pPr>
              <a:defRPr sz="2000">
                <a:solidFill>
                  <a:srgbClr val="333333"/>
                </a:solidFill>
              </a:defRPr>
            </a:pPr>
            <a:r>
              <a:t>Workflow Automation: Salesforce Flows</a:t>
            </a:r>
          </a:p>
          <a:p>
            <a:pPr>
              <a:defRPr sz="2000">
                <a:solidFill>
                  <a:srgbClr val="333333"/>
                </a:solidFill>
              </a:defRPr>
            </a:pPr>
            <a:r>
              <a:t>Data Management: Data Migration &amp; Quality</a:t>
            </a:r>
          </a:p>
          <a:p>
            <a:pPr>
              <a:defRPr sz="2000">
                <a:solidFill>
                  <a:srgbClr val="333333"/>
                </a:solidFill>
              </a:defRPr>
            </a:pPr>
            <a:r>
              <a:t>Sales Process: Opportunity Stage Management</a:t>
            </a:r>
          </a:p>
          <a:p>
            <a:pPr>
              <a:defRPr sz="2000">
                <a:solidFill>
                  <a:srgbClr val="333333"/>
                </a:solidFill>
              </a:defRPr>
            </a:pPr>
            <a:r>
              <a:t>Service Process: Case Routing Rules</a:t>
            </a:r>
          </a:p>
          <a:p>
            <a:pPr>
              <a:defRPr sz="2000">
                <a:solidFill>
                  <a:srgbClr val="333333"/>
                </a:solidFill>
              </a:defRPr>
            </a:pPr>
            <a:r>
              <a:t>Reporting: Dashboards &amp; Analytics</a:t>
            </a:r>
          </a:p>
          <a:p>
            <a:pPr>
              <a:defRPr sz="2000">
                <a:solidFill>
                  <a:srgbClr val="333333"/>
                </a:solidFill>
              </a:defRPr>
            </a:pPr>
            <a:r>
              <a:t>Integration: ERP System Connectivity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AI Usage &amp; Quality Safeguards</a:t>
            </a:r>
          </a:p>
        </p:txBody>
      </p:sp>
      <p:sp>
        <p:nvSpPr>
          <p:cNvPr id="3" name="Text Placeholder 2"/>
          <p:cNvSpPr>
            <a:spLocks noGrp="1"/>
          </p:cNvSpPr>
          <p:nvPr>
            <p:ph type="body" idx="1"/>
          </p:nvPr>
        </p:nvSpPr>
        <p:spPr/>
        <p:txBody>
          <a:bodyPr/>
          <a:lstStyle/>
          <a:p>
            <a:pPr>
              <a:defRPr sz="2000">
                <a:solidFill>
                  <a:srgbClr val="333333"/>
                </a:solidFill>
              </a:defRPr>
            </a:pPr>
            <a:r>
              <a:t>OpenAI Policy: Commercial tools prohibited</a:t>
            </a:r>
          </a:p>
          <a:p>
            <a:pPr>
              <a:defRPr sz="2000">
                <a:solidFill>
                  <a:srgbClr val="333333"/>
                </a:solidFill>
              </a:defRPr>
            </a:pPr>
            <a:r>
              <a:t>Intellectual property protection enforced</a:t>
            </a:r>
          </a:p>
          <a:p>
            <a:pPr>
              <a:defRPr sz="2000">
                <a:solidFill>
                  <a:srgbClr val="333333"/>
                </a:solidFill>
              </a:defRPr>
            </a:pPr>
            <a:r>
              <a:t>Data privacy requirements maintained</a:t>
            </a:r>
          </a:p>
          <a:p>
            <a:pPr>
              <a:defRPr sz="2000">
                <a:solidFill>
                  <a:srgbClr val="333333"/>
                </a:solidFill>
              </a:defRPr>
            </a:pPr>
            <a:r>
              <a:t>GitHub Copilot: Approved for limited use</a:t>
            </a:r>
          </a:p>
          <a:p>
            <a:pPr>
              <a:defRPr sz="2000">
                <a:solidFill>
                  <a:srgbClr val="333333"/>
                </a:solidFill>
              </a:defRPr>
            </a:pPr>
            <a:r>
              <a:t>  • Test design assistance</a:t>
            </a:r>
          </a:p>
          <a:p>
            <a:pPr>
              <a:defRPr sz="2000">
                <a:solidFill>
                  <a:srgbClr val="333333"/>
                </a:solidFill>
              </a:defRPr>
            </a:pPr>
            <a:r>
              <a:t>  • Documentation support</a:t>
            </a:r>
          </a:p>
          <a:p>
            <a:pPr>
              <a:defRPr sz="2000">
                <a:solidFill>
                  <a:srgbClr val="333333"/>
                </a:solidFill>
              </a:defRPr>
            </a:pPr>
            <a:r>
              <a:t>Mandatory: Human review of all AI outputs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Risk Controls</a:t>
            </a:r>
          </a:p>
        </p:txBody>
      </p:sp>
      <p:graphicFrame>
        <p:nvGraphicFramePr>
          <p:cNvPr id="5" name="Table 4"/>
          <p:cNvGraphicFramePr>
            <a:graphicFrameLocks noGrp="1"/>
          </p:cNvGraphicFramePr>
          <p:nvPr/>
        </p:nvGraphicFramePr>
        <p:xfrm>
          <a:off x="457200" y="1188720"/>
          <a:ext cx="11247120" cy="2468880"/>
        </p:xfrm>
        <a:graphic>
          <a:graphicData uri="http://schemas.openxmlformats.org/drawingml/2006/table">
            <a:tbl>
              <a:tblPr firstRow="1" bandRow="1">
                <a:tableStyleId>{5C22544A-7EE6-4342-B048-85BDC9FD1C3A}</a:tableStyleId>
              </a:tblPr>
              <a:tblGrid>
                <a:gridCol w="5623560"/>
                <a:gridCol w="5623560"/>
              </a:tblGrid>
              <a:tr h="411480">
                <a:tc>
                  <a:txBody>
                    <a:bodyPr/>
                    <a:lstStyle/>
                    <a:p>
                      <a:pPr>
                        <a:defRPr b="1" sz="1400">
                          <a:solidFill>
                            <a:srgbClr val="FFFFFF"/>
                          </a:solidFill>
                        </a:defRPr>
                      </a:pPr>
                      <a:r>
                        <a:t>Risk</a:t>
                      </a:r>
                    </a:p>
                  </a:txBody>
                  <a:tcPr>
                    <a:solidFill>
                      <a:srgbClr val="005293"/>
                    </a:solidFill>
                  </a:tcPr>
                </a:tc>
                <a:tc>
                  <a:txBody>
                    <a:bodyPr/>
                    <a:lstStyle/>
                    <a:p>
                      <a:pPr>
                        <a:defRPr b="1" sz="1400">
                          <a:solidFill>
                            <a:srgbClr val="FFFFFF"/>
                          </a:solidFill>
                        </a:defRPr>
                      </a:pPr>
                      <a:r>
                        <a:t>Control Measure</a:t>
                      </a:r>
                    </a:p>
                  </a:txBody>
                  <a:tcPr>
                    <a:solidFill>
                      <a:srgbClr val="005293"/>
                    </a:solidFill>
                  </a:tcPr>
                </a:tc>
              </a:tr>
              <a:tr h="411480">
                <a:tc>
                  <a:txBody>
                    <a:bodyPr/>
                    <a:lstStyle/>
                    <a:p>
                      <a:pPr>
                        <a:defRPr sz="1200">
                          <a:solidFill>
                            <a:srgbClr val="333333"/>
                          </a:solidFill>
                        </a:defRPr>
                      </a:pPr>
                      <a:r>
                        <a:t>Requirement ambiguity</a:t>
                      </a:r>
                    </a:p>
                  </a:txBody>
                  <a:tcPr/>
                </a:tc>
                <a:tc>
                  <a:txBody>
                    <a:bodyPr/>
                    <a:lstStyle/>
                    <a:p>
                      <a:pPr>
                        <a:defRPr sz="1200">
                          <a:solidFill>
                            <a:srgbClr val="333333"/>
                          </a:solidFill>
                        </a:defRPr>
                      </a:pPr>
                      <a:r>
                        <a:t>Clarification Calls</a:t>
                      </a:r>
                    </a:p>
                  </a:txBody>
                  <a:tcPr/>
                </a:tc>
              </a:tr>
              <a:tr h="411480">
                <a:tc>
                  <a:txBody>
                    <a:bodyPr/>
                    <a:lstStyle/>
                    <a:p>
                      <a:pPr>
                        <a:defRPr sz="1200">
                          <a:solidFill>
                            <a:srgbClr val="333333"/>
                          </a:solidFill>
                        </a:defRPr>
                      </a:pPr>
                      <a:r>
                        <a:t>Missing acceptance criteria</a:t>
                      </a:r>
                    </a:p>
                  </a:txBody>
                  <a:tcPr/>
                </a:tc>
                <a:tc>
                  <a:txBody>
                    <a:bodyPr/>
                    <a:lstStyle/>
                    <a:p>
                      <a:pPr>
                        <a:defRPr sz="1200">
                          <a:solidFill>
                            <a:srgbClr val="333333"/>
                          </a:solidFill>
                        </a:defRPr>
                      </a:pPr>
                      <a:r>
                        <a:t>Definition of Ready</a:t>
                      </a:r>
                    </a:p>
                  </a:txBody>
                  <a:tcPr/>
                </a:tc>
              </a:tr>
              <a:tr h="411480">
                <a:tc>
                  <a:txBody>
                    <a:bodyPr/>
                    <a:lstStyle/>
                    <a:p>
                      <a:pPr>
                        <a:defRPr sz="1200">
                          <a:solidFill>
                            <a:srgbClr val="333333"/>
                          </a:solidFill>
                        </a:defRPr>
                      </a:pPr>
                      <a:r>
                        <a:t>Poor estimation</a:t>
                      </a:r>
                    </a:p>
                  </a:txBody>
                  <a:tcPr/>
                </a:tc>
                <a:tc>
                  <a:txBody>
                    <a:bodyPr/>
                    <a:lstStyle/>
                    <a:p>
                      <a:pPr>
                        <a:defRPr sz="1200">
                          <a:solidFill>
                            <a:srgbClr val="333333"/>
                          </a:solidFill>
                        </a:defRPr>
                      </a:pPr>
                      <a:r>
                        <a:t>Planning Poker</a:t>
                      </a:r>
                    </a:p>
                  </a:txBody>
                  <a:tcPr/>
                </a:tc>
              </a:tr>
              <a:tr h="411480">
                <a:tc>
                  <a:txBody>
                    <a:bodyPr/>
                    <a:lstStyle/>
                    <a:p>
                      <a:pPr>
                        <a:defRPr sz="1200">
                          <a:solidFill>
                            <a:srgbClr val="333333"/>
                          </a:solidFill>
                        </a:defRPr>
                      </a:pPr>
                      <a:r>
                        <a:t>Scope creep</a:t>
                      </a:r>
                    </a:p>
                  </a:txBody>
                  <a:tcPr/>
                </a:tc>
                <a:tc>
                  <a:txBody>
                    <a:bodyPr/>
                    <a:lstStyle/>
                    <a:p>
                      <a:pPr>
                        <a:defRPr sz="1200">
                          <a:solidFill>
                            <a:srgbClr val="333333"/>
                          </a:solidFill>
                        </a:defRPr>
                      </a:pPr>
                      <a:r>
                        <a:t>Sprint Planning gate</a:t>
                      </a:r>
                    </a:p>
                  </a:txBody>
                  <a:tcPr/>
                </a:tc>
              </a:tr>
              <a:tr h="411480">
                <a:tc>
                  <a:txBody>
                    <a:bodyPr/>
                    <a:lstStyle/>
                    <a:p>
                      <a:pPr>
                        <a:defRPr sz="1200">
                          <a:solidFill>
                            <a:srgbClr val="333333"/>
                          </a:solidFill>
                        </a:defRPr>
                      </a:pPr>
                      <a:r>
                        <a:t>Dependency issues</a:t>
                      </a:r>
                    </a:p>
                  </a:txBody>
                  <a:tcPr/>
                </a:tc>
                <a:tc>
                  <a:txBody>
                    <a:bodyPr/>
                    <a:lstStyle/>
                    <a:p>
                      <a:pPr>
                        <a:defRPr sz="1200">
                          <a:solidFill>
                            <a:srgbClr val="333333"/>
                          </a:solidFill>
                        </a:defRPr>
                      </a:pPr>
                      <a:r>
                        <a:t>Backlog Refinement</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Key Audit Evidence</a:t>
            </a:r>
          </a:p>
        </p:txBody>
      </p:sp>
      <p:sp>
        <p:nvSpPr>
          <p:cNvPr id="5" name="TextBox 4"/>
          <p:cNvSpPr txBox="1"/>
          <p:nvPr/>
        </p:nvSpPr>
        <p:spPr>
          <a:xfrm>
            <a:off x="457200" y="1188720"/>
            <a:ext cx="5303520" cy="5029200"/>
          </a:xfrm>
          <a:prstGeom prst="rect">
            <a:avLst/>
          </a:prstGeom>
          <a:noFill/>
        </p:spPr>
        <p:txBody>
          <a:bodyPr wrap="square">
            <a:spAutoFit/>
          </a:bodyPr>
          <a:lstStyle/>
          <a:p>
            <a:pPr>
              <a:defRPr sz="1800" b="1">
                <a:solidFill>
                  <a:srgbClr val="005293"/>
                </a:solidFill>
              </a:defRPr>
            </a:pPr>
            <a:r>
              <a:t>Process Artifacts:</a:t>
            </a:r>
          </a:p>
          <a:p>
            <a:pPr>
              <a:defRPr sz="1800">
                <a:solidFill>
                  <a:srgbClr val="333333"/>
                </a:solidFill>
              </a:defRPr>
            </a:pPr>
            <a:r>
              <a:t>• Jira Product Backlog</a:t>
            </a:r>
          </a:p>
          <a:p>
            <a:pPr>
              <a:defRPr sz="1800">
                <a:solidFill>
                  <a:srgbClr val="333333"/>
                </a:solidFill>
              </a:defRPr>
            </a:pPr>
            <a:r>
              <a:t>• User Stories &amp; Sprint Backlogs</a:t>
            </a:r>
          </a:p>
          <a:p>
            <a:pPr>
              <a:defRPr sz="1800">
                <a:solidFill>
                  <a:srgbClr val="333333"/>
                </a:solidFill>
              </a:defRPr>
            </a:pPr>
            <a:r>
              <a:t>• Planning Poker Estimates</a:t>
            </a:r>
          </a:p>
          <a:p>
            <a:pPr>
              <a:defRPr sz="1800">
                <a:solidFill>
                  <a:srgbClr val="333333"/>
                </a:solidFill>
              </a:defRPr>
            </a:pPr>
            <a:r>
              <a:t>• Definition of Ready Checklist</a:t>
            </a:r>
          </a:p>
          <a:p>
            <a:pPr>
              <a:defRPr sz="1800">
                <a:solidFill>
                  <a:srgbClr val="333333"/>
                </a:solidFill>
              </a:defRPr>
            </a:pPr>
            <a:r>
              <a:t>• Acceptance Criteria</a:t>
            </a:r>
          </a:p>
          <a:p>
            <a:pPr>
              <a:defRPr sz="1800">
                <a:solidFill>
                  <a:srgbClr val="333333"/>
                </a:solidFill>
              </a:defRPr>
            </a:pPr>
            <a:r>
              <a:t>• Solution Design Documents</a:t>
            </a:r>
          </a:p>
        </p:txBody>
      </p:sp>
      <p:sp>
        <p:nvSpPr>
          <p:cNvPr id="6" name="TextBox 5"/>
          <p:cNvSpPr txBox="1"/>
          <p:nvPr/>
        </p:nvSpPr>
        <p:spPr>
          <a:xfrm>
            <a:off x="6217920" y="1188720"/>
            <a:ext cx="5303520" cy="5029200"/>
          </a:xfrm>
          <a:prstGeom prst="rect">
            <a:avLst/>
          </a:prstGeom>
          <a:noFill/>
        </p:spPr>
        <p:txBody>
          <a:bodyPr wrap="square">
            <a:spAutoFit/>
          </a:bodyPr>
          <a:lstStyle/>
          <a:p>
            <a:pPr>
              <a:defRPr sz="1800" b="1">
                <a:solidFill>
                  <a:srgbClr val="005293"/>
                </a:solidFill>
              </a:defRPr>
            </a:pPr>
            <a:r>
              <a:t>Meeting Records:</a:t>
            </a:r>
          </a:p>
          <a:p>
            <a:pPr>
              <a:defRPr sz="1800">
                <a:solidFill>
                  <a:srgbClr val="333333"/>
                </a:solidFill>
              </a:defRPr>
            </a:pPr>
            <a:r>
              <a:t>• Clarification Call Notes</a:t>
            </a:r>
          </a:p>
          <a:p>
            <a:pPr>
              <a:defRPr sz="1800">
                <a:solidFill>
                  <a:srgbClr val="333333"/>
                </a:solidFill>
              </a:defRPr>
            </a:pPr>
            <a:r>
              <a:t>• Sprint Planning Minutes</a:t>
            </a:r>
          </a:p>
          <a:p>
            <a:pPr>
              <a:defRPr sz="1800">
                <a:solidFill>
                  <a:srgbClr val="333333"/>
                </a:solidFill>
              </a:defRPr>
            </a:pPr>
            <a:r>
              <a:t>• Capacity Planner</a:t>
            </a:r>
          </a:p>
          <a:p>
            <a:pPr>
              <a:defRPr sz="1800">
                <a:solidFill>
                  <a:srgbClr val="333333"/>
                </a:solidFill>
              </a:defRPr>
            </a:pPr>
            <a:r>
              <a:t>• Sprint Reviews</a:t>
            </a:r>
          </a:p>
          <a:p>
            <a:pPr>
              <a:defRPr sz="1800">
                <a:solidFill>
                  <a:srgbClr val="333333"/>
                </a:solidFill>
              </a:defRPr>
            </a:pPr>
            <a:r>
              <a:t>• Retrospectives</a:t>
            </a:r>
          </a:p>
          <a:p>
            <a:pPr>
              <a:defRPr sz="1800">
                <a:solidFill>
                  <a:srgbClr val="333333"/>
                </a:solidFill>
              </a:defRPr>
            </a:pPr>
            <a:r>
              <a:t>• Confluence Ways of Working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274320"/>
            <a:ext cx="11247120" cy="731520"/>
          </a:xfrm>
          <a:prstGeom prst="rect">
            <a:avLst/>
          </a:prstGeom>
          <a:noFill/>
        </p:spPr>
        <p:txBody>
          <a:bodyPr wrap="none">
            <a:spAutoFit/>
          </a:bodyPr>
          <a:lstStyle/>
          <a:p>
            <a:pPr>
              <a:defRPr sz="3200" b="1">
                <a:solidFill>
                  <a:srgbClr val="005293"/>
                </a:solidFill>
              </a:defRPr>
            </a:pPr>
            <a:r>
              <a:t>Key Performance Indicators</a:t>
            </a:r>
          </a:p>
        </p:txBody>
      </p:sp>
      <p:graphicFrame>
        <p:nvGraphicFramePr>
          <p:cNvPr id="5" name="Table 4"/>
          <p:cNvGraphicFramePr>
            <a:graphicFrameLocks noGrp="1"/>
          </p:cNvGraphicFramePr>
          <p:nvPr/>
        </p:nvGraphicFramePr>
        <p:xfrm>
          <a:off x="457200" y="1188720"/>
          <a:ext cx="11247120" cy="2880360"/>
        </p:xfrm>
        <a:graphic>
          <a:graphicData uri="http://schemas.openxmlformats.org/drawingml/2006/table">
            <a:tbl>
              <a:tblPr firstRow="1" bandRow="1">
                <a:tableStyleId>{5C22544A-7EE6-4342-B048-85BDC9FD1C3A}</a:tableStyleId>
              </a:tblPr>
              <a:tblGrid>
                <a:gridCol w="5623560"/>
                <a:gridCol w="5623560"/>
              </a:tblGrid>
              <a:tr h="411480">
                <a:tc>
                  <a:txBody>
                    <a:bodyPr/>
                    <a:lstStyle/>
                    <a:p>
                      <a:pPr>
                        <a:defRPr b="1" sz="1400">
                          <a:solidFill>
                            <a:srgbClr val="FFFFFF"/>
                          </a:solidFill>
                        </a:defRPr>
                      </a:pPr>
                      <a:r>
                        <a:t>KPI</a:t>
                      </a:r>
                    </a:p>
                  </a:txBody>
                  <a:tcPr>
                    <a:solidFill>
                      <a:srgbClr val="005293"/>
                    </a:solidFill>
                  </a:tcPr>
                </a:tc>
                <a:tc>
                  <a:txBody>
                    <a:bodyPr/>
                    <a:lstStyle/>
                    <a:p>
                      <a:pPr>
                        <a:defRPr b="1" sz="1400">
                          <a:solidFill>
                            <a:srgbClr val="FFFFFF"/>
                          </a:solidFill>
                        </a:defRPr>
                      </a:pPr>
                      <a:r>
                        <a:t>Target</a:t>
                      </a:r>
                    </a:p>
                  </a:txBody>
                  <a:tcPr>
                    <a:solidFill>
                      <a:srgbClr val="005293"/>
                    </a:solidFill>
                  </a:tcPr>
                </a:tc>
              </a:tr>
              <a:tr h="411480">
                <a:tc>
                  <a:txBody>
                    <a:bodyPr/>
                    <a:lstStyle/>
                    <a:p>
                      <a:pPr>
                        <a:defRPr sz="1200">
                          <a:solidFill>
                            <a:srgbClr val="333333"/>
                          </a:solidFill>
                        </a:defRPr>
                      </a:pPr>
                      <a:r>
                        <a:t>Definition of Ready Compliance</a:t>
                      </a:r>
                    </a:p>
                  </a:txBody>
                  <a:tcPr/>
                </a:tc>
                <a:tc>
                  <a:txBody>
                    <a:bodyPr/>
                    <a:lstStyle/>
                    <a:p>
                      <a:pPr>
                        <a:defRPr sz="1200">
                          <a:solidFill>
                            <a:srgbClr val="333333"/>
                          </a:solidFill>
                        </a:defRPr>
                      </a:pPr>
                      <a:r>
                        <a:t>100%</a:t>
                      </a:r>
                    </a:p>
                  </a:txBody>
                  <a:tcPr/>
                </a:tc>
              </a:tr>
              <a:tr h="411480">
                <a:tc>
                  <a:txBody>
                    <a:bodyPr/>
                    <a:lstStyle/>
                    <a:p>
                      <a:pPr>
                        <a:defRPr sz="1200">
                          <a:solidFill>
                            <a:srgbClr val="333333"/>
                          </a:solidFill>
                        </a:defRPr>
                      </a:pPr>
                      <a:r>
                        <a:t>Story Estimation Coverage</a:t>
                      </a:r>
                    </a:p>
                  </a:txBody>
                  <a:tcPr/>
                </a:tc>
                <a:tc>
                  <a:txBody>
                    <a:bodyPr/>
                    <a:lstStyle/>
                    <a:p>
                      <a:pPr>
                        <a:defRPr sz="1200">
                          <a:solidFill>
                            <a:srgbClr val="333333"/>
                          </a:solidFill>
                        </a:defRPr>
                      </a:pPr>
                      <a:r>
                        <a:t>100%</a:t>
                      </a:r>
                    </a:p>
                  </a:txBody>
                  <a:tcPr/>
                </a:tc>
              </a:tr>
              <a:tr h="411480">
                <a:tc>
                  <a:txBody>
                    <a:bodyPr/>
                    <a:lstStyle/>
                    <a:p>
                      <a:pPr>
                        <a:defRPr sz="1200">
                          <a:solidFill>
                            <a:srgbClr val="333333"/>
                          </a:solidFill>
                        </a:defRPr>
                      </a:pPr>
                      <a:r>
                        <a:t>Acceptance Criteria Completeness</a:t>
                      </a:r>
                    </a:p>
                  </a:txBody>
                  <a:tcPr/>
                </a:tc>
                <a:tc>
                  <a:txBody>
                    <a:bodyPr/>
                    <a:lstStyle/>
                    <a:p>
                      <a:pPr>
                        <a:defRPr sz="1200">
                          <a:solidFill>
                            <a:srgbClr val="333333"/>
                          </a:solidFill>
                        </a:defRPr>
                      </a:pPr>
                      <a:r>
                        <a:t>100%</a:t>
                      </a:r>
                    </a:p>
                  </a:txBody>
                  <a:tcPr/>
                </a:tc>
              </a:tr>
              <a:tr h="411480">
                <a:tc>
                  <a:txBody>
                    <a:bodyPr/>
                    <a:lstStyle/>
                    <a:p>
                      <a:pPr>
                        <a:defRPr sz="1200">
                          <a:solidFill>
                            <a:srgbClr val="333333"/>
                          </a:solidFill>
                        </a:defRPr>
                      </a:pPr>
                      <a:r>
                        <a:t>Story Traceability</a:t>
                      </a:r>
                    </a:p>
                  </a:txBody>
                  <a:tcPr/>
                </a:tc>
                <a:tc>
                  <a:txBody>
                    <a:bodyPr/>
                    <a:lstStyle/>
                    <a:p>
                      <a:pPr>
                        <a:defRPr sz="1200">
                          <a:solidFill>
                            <a:srgbClr val="333333"/>
                          </a:solidFill>
                        </a:defRPr>
                      </a:pPr>
                      <a:r>
                        <a:t>100%</a:t>
                      </a:r>
                    </a:p>
                  </a:txBody>
                  <a:tcPr/>
                </a:tc>
              </a:tr>
              <a:tr h="411480">
                <a:tc>
                  <a:txBody>
                    <a:bodyPr/>
                    <a:lstStyle/>
                    <a:p>
                      <a:pPr>
                        <a:defRPr sz="1200">
                          <a:solidFill>
                            <a:srgbClr val="333333"/>
                          </a:solidFill>
                        </a:defRPr>
                      </a:pPr>
                      <a:r>
                        <a:t>Refinement Cadence</a:t>
                      </a:r>
                    </a:p>
                  </a:txBody>
                  <a:tcPr/>
                </a:tc>
                <a:tc>
                  <a:txBody>
                    <a:bodyPr/>
                    <a:lstStyle/>
                    <a:p>
                      <a:pPr>
                        <a:defRPr sz="1200">
                          <a:solidFill>
                            <a:srgbClr val="333333"/>
                          </a:solidFill>
                        </a:defRPr>
                      </a:pPr>
                      <a:r>
                        <a:t>Weekly</a:t>
                      </a:r>
                    </a:p>
                  </a:txBody>
                  <a:tcPr/>
                </a:tc>
              </a:tr>
              <a:tr h="411480">
                <a:tc>
                  <a:txBody>
                    <a:bodyPr/>
                    <a:lstStyle/>
                    <a:p>
                      <a:pPr>
                        <a:defRPr sz="1200">
                          <a:solidFill>
                            <a:srgbClr val="333333"/>
                          </a:solidFill>
                        </a:defRPr>
                      </a:pPr>
                      <a:r>
                        <a:t>Clarification Resolution</a:t>
                      </a:r>
                    </a:p>
                  </a:txBody>
                  <a:tcPr/>
                </a:tc>
                <a:tc>
                  <a:txBody>
                    <a:bodyPr/>
                    <a:lstStyle/>
                    <a:p>
                      <a:pPr>
                        <a:defRPr sz="1200">
                          <a:solidFill>
                            <a:srgbClr val="333333"/>
                          </a:solidFill>
                        </a:defRPr>
                      </a:pPr>
                      <a:r>
                        <a:t>Same Day</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Continuous Improvement</a:t>
            </a:r>
          </a:p>
        </p:txBody>
      </p:sp>
      <p:sp>
        <p:nvSpPr>
          <p:cNvPr id="3" name="Text Placeholder 2"/>
          <p:cNvSpPr>
            <a:spLocks noGrp="1"/>
          </p:cNvSpPr>
          <p:nvPr>
            <p:ph type="body" idx="1"/>
          </p:nvPr>
        </p:nvSpPr>
        <p:spPr/>
        <p:txBody>
          <a:bodyPr/>
          <a:lstStyle/>
          <a:p>
            <a:pPr>
              <a:defRPr sz="2000">
                <a:solidFill>
                  <a:srgbClr val="333333"/>
                </a:solidFill>
              </a:defRPr>
            </a:pPr>
            <a:r>
              <a:t>Sprint Retrospectives after each Sprint</a:t>
            </a:r>
          </a:p>
          <a:p>
            <a:pPr>
              <a:defRPr sz="2000">
                <a:solidFill>
                  <a:srgbClr val="333333"/>
                </a:solidFill>
              </a:defRPr>
            </a:pPr>
            <a:r>
              <a:t>Lessons Learned documentation</a:t>
            </a:r>
          </a:p>
          <a:p>
            <a:pPr>
              <a:defRPr sz="2000">
                <a:solidFill>
                  <a:srgbClr val="333333"/>
                </a:solidFill>
              </a:defRPr>
            </a:pPr>
            <a:r>
              <a:t>Root Cause Analysis for issues</a:t>
            </a:r>
          </a:p>
          <a:p>
            <a:pPr>
              <a:defRPr sz="2000">
                <a:solidFill>
                  <a:srgbClr val="333333"/>
                </a:solidFill>
              </a:defRPr>
            </a:pPr>
            <a:r>
              <a:t>Process Optimization initiatives</a:t>
            </a:r>
          </a:p>
          <a:p>
            <a:pPr>
              <a:defRPr sz="2000">
                <a:solidFill>
                  <a:srgbClr val="333333"/>
                </a:solidFill>
              </a:defRPr>
            </a:pPr>
            <a:r>
              <a:t>Quality Metrics Review monthly</a:t>
            </a:r>
          </a:p>
          <a:p>
            <a:pPr>
              <a:defRPr sz="2000">
                <a:solidFill>
                  <a:srgbClr val="333333"/>
                </a:solidFill>
              </a:defRPr>
            </a:pPr>
            <a:r>
              <a:t>Backlog Health Monitoring weekly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5293"/>
                </a:solidFill>
              </a:defRPr>
            </a:pPr>
            <a:r>
              <a:t>Key Takeaways</a:t>
            </a:r>
          </a:p>
        </p:txBody>
      </p:sp>
      <p:sp>
        <p:nvSpPr>
          <p:cNvPr id="3" name="Text Placeholder 2"/>
          <p:cNvSpPr>
            <a:spLocks noGrp="1"/>
          </p:cNvSpPr>
          <p:nvPr>
            <p:ph type="body" idx="1"/>
          </p:nvPr>
        </p:nvSpPr>
        <p:spPr/>
        <p:txBody>
          <a:bodyPr/>
          <a:lstStyle/>
          <a:p>
            <a:pPr>
              <a:defRPr sz="2000">
                <a:solidFill>
                  <a:srgbClr val="333333"/>
                </a:solidFill>
              </a:defRPr>
            </a:pPr>
            <a:r>
              <a:t>✓ Structured requirement analysis process</a:t>
            </a:r>
          </a:p>
          <a:p>
            <a:pPr>
              <a:defRPr sz="2000">
                <a:solidFill>
                  <a:srgbClr val="333333"/>
                </a:solidFill>
              </a:defRPr>
            </a:pPr>
            <a:r>
              <a:t>✓ Defined governance and quality gates</a:t>
            </a:r>
          </a:p>
          <a:p>
            <a:pPr>
              <a:defRPr sz="2000">
                <a:solidFill>
                  <a:srgbClr val="333333"/>
                </a:solidFill>
              </a:defRPr>
            </a:pPr>
            <a:r>
              <a:t>✓ End-to-end requirement traceability</a:t>
            </a:r>
          </a:p>
          <a:p>
            <a:pPr>
              <a:defRPr sz="2000">
                <a:solidFill>
                  <a:srgbClr val="333333"/>
                </a:solidFill>
              </a:defRPr>
            </a:pPr>
            <a:r>
              <a:t>✓ Agile Scrum aligned with TickIT Plus</a:t>
            </a:r>
          </a:p>
          <a:p>
            <a:pPr>
              <a:defRPr sz="2000">
                <a:solidFill>
                  <a:srgbClr val="333333"/>
                </a:solidFill>
              </a:defRPr>
            </a:pPr>
            <a:r>
              <a:t>✓ Continuous stakeholder collaboration</a:t>
            </a:r>
          </a:p>
          <a:p>
            <a:pPr>
              <a:defRPr sz="2000">
                <a:solidFill>
                  <a:srgbClr val="333333"/>
                </a:solidFill>
              </a:defRPr>
            </a:pPr>
            <a:r>
              <a:t>✓ Human-reviewed AI usage</a:t>
            </a:r>
          </a:p>
          <a:p>
            <a:pPr>
              <a:defRPr sz="2000">
                <a:solidFill>
                  <a:srgbClr val="333333"/>
                </a:solidFill>
              </a:defRPr>
            </a:pPr>
            <a:r>
              <a:t>✓ Continuous process improvement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457200" y="1371600"/>
            <a:ext cx="11247120" cy="1371600"/>
          </a:xfrm>
          <a:prstGeom prst="rect">
            <a:avLst/>
          </a:prstGeom>
          <a:noFill/>
        </p:spPr>
        <p:txBody>
          <a:bodyPr wrap="none">
            <a:spAutoFit/>
          </a:bodyPr>
          <a:lstStyle/>
          <a:p>
            <a:pPr algn="ctr">
              <a:defRPr sz="4800" b="1">
                <a:solidFill>
                  <a:srgbClr val="005293"/>
                </a:solidFill>
              </a:defRPr>
            </a:pPr>
            <a:r>
              <a:t>Thank You</a:t>
            </a:r>
          </a:p>
        </p:txBody>
      </p:sp>
      <p:sp>
        <p:nvSpPr>
          <p:cNvPr id="5" name="TextBox 4"/>
          <p:cNvSpPr txBox="1"/>
          <p:nvPr/>
        </p:nvSpPr>
        <p:spPr>
          <a:xfrm>
            <a:off x="457200" y="3200400"/>
            <a:ext cx="11247120" cy="2743200"/>
          </a:xfrm>
          <a:prstGeom prst="rect">
            <a:avLst/>
          </a:prstGeom>
          <a:noFill/>
        </p:spPr>
        <p:txBody>
          <a:bodyPr wrap="square">
            <a:spAutoFit/>
          </a:bodyPr>
          <a:lstStyle/>
          <a:p>
            <a:pPr algn="ctr">
              <a:defRPr sz="2800">
                <a:solidFill>
                  <a:srgbClr val="009688"/>
                </a:solidFill>
              </a:defRPr>
            </a:pPr>
            <a:r>
              <a:t>Questions &amp; Discussion</a:t>
            </a:r>
          </a:p>
          <a:p>
            <a:pPr algn="ctr">
              <a:defRPr sz="1400"/>
            </a:pPr>
          </a:p>
          <a:p>
            <a:pPr algn="ctr">
              <a:defRPr sz="2000">
                <a:solidFill>
                  <a:srgbClr val="333333"/>
                </a:solidFill>
              </a:defRPr>
            </a:pPr>
            <a:r>
              <a:t>Apparao Maroju</a:t>
            </a:r>
          </a:p>
          <a:p>
            <a:pPr algn="ctr">
              <a:defRPr sz="2000">
                <a:solidFill>
                  <a:srgbClr val="333333"/>
                </a:solidFill>
              </a:defRPr>
            </a:pPr>
            <a:r>
              <a:t>Scrum Master</a:t>
            </a:r>
          </a:p>
          <a:p>
            <a:pPr algn="ctr">
              <a:defRPr sz="2000">
                <a:solidFill>
                  <a:srgbClr val="333333"/>
                </a:solidFill>
              </a:defRPr>
            </a:pPr>
            <a:r>
              <a:t>Sopra Steria Sales CRM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